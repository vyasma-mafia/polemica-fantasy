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 type="wide"/>
  <p:notesSz cx="6858000" cy="9144000"/>
  <p:defaultTextStyle>
    <a:defPPr>
      <a:defRPr lang="ru-RU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Master" Target="slideMasters/slideMaster1.xml"/>
<Relationship Id="rId1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 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wash"/>
          <p:cNvSpPr/>
          <p:nvPr/>
        </p:nvSpPr>
        <p:spPr>
          <a:xfrm>
            <a:off x="10287000" y="0"/>
            <a:ext cx="1920240" cy="6858000"/>
          </a:xfrm>
          <a:prstGeom prst="rect">
            <a:avLst/>
          </a:prstGeom>
          <a:solidFill>
            <a:srgbClr val="14222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Accent block"/>
          <p:cNvSpPr/>
          <p:nvPr/>
        </p:nvSpPr>
        <p:spPr>
          <a:xfrm>
            <a:off x="685800" y="685800"/>
            <a:ext cx="128016" cy="502920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Kicker"/>
          <p:cNvSpPr txBox="1"/>
          <p:nvPr/>
        </p:nvSpPr>
        <p:spPr>
          <a:xfrm>
            <a:off x="960120" y="73152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800"/>
            <a:r>
              <a:rPr lang="ru-RU" sz="1500" b="1">
                <a:solidFill>
                  <a:srgbClr val="3DDC97"/>
                </a:solidFill>
                <a:latin typeface="Aptos"/>
                <a:cs typeface="Aptos"/>
              </a:rPr>
              <a:t>POLEMICA FANTASY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914400" y="1325880"/>
            <a:ext cx="969264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200"/>
            <a:r>
              <a:rPr lang="ru-RU" sz="4600" b="1">
                <a:solidFill>
                  <a:srgbClr val="F4F7FA"/>
                </a:solidFill>
                <a:latin typeface="Aptos"/>
                <a:cs typeface="Aptos"/>
              </a:rPr>
              <a:t>AI-native разработка живого продукта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960120" y="3246120"/>
            <a:ext cx="786384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2350">
                <a:solidFill>
                  <a:srgbClr val="A9B7C6"/>
                </a:solidFill>
                <a:latin typeface="Aptos"/>
                <a:cs typeface="Aptos"/>
              </a:rPr>
              <a:t>История фэнтези-сервиса для спортивной мафии: что реально работает, где AI помогает, и какие правила удерживают качество</a:t>
            </a:r>
          </a:p>
        </p:txBody>
      </p:sp>
      <p:sp>
        <p:nvSpPr>
          <p:cNvPr id="9" name="Tag one"/>
          <p:cNvSpPr/>
          <p:nvPr/>
        </p:nvSpPr>
        <p:spPr>
          <a:xfrm>
            <a:off x="960120" y="4983480"/>
            <a:ext cx="1874519" cy="438912"/>
          </a:xfrm>
          <a:prstGeom prst="roundRect">
            <a:avLst/>
          </a:prstGeom>
          <a:solidFill>
            <a:srgbClr val="1F3444"/>
          </a:solidFill>
          <a:ln w="12000">
            <a:solidFill>
              <a:srgbClr val="2C4053"/>
            </a:solidFill>
          </a:ln>
        </p:spPr>
        <p:txBody>
          <a:bodyPr/>
          <a:lstStyle/>
          <a:p/>
        </p:txBody>
      </p:sp>
      <p:sp>
        <p:nvSpPr>
          <p:cNvPr id="10" name="Tag text one"/>
          <p:cNvSpPr txBox="1"/>
          <p:nvPr/>
        </p:nvSpPr>
        <p:spPr>
          <a:xfrm>
            <a:off x="1078992" y="508406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300" b="1">
                <a:solidFill>
                  <a:srgbClr val="F4F7FA"/>
                </a:solidFill>
                <a:latin typeface="Aptos"/>
                <a:cs typeface="Aptos"/>
              </a:rPr>
              <a:t>Контекст</a:t>
            </a:r>
          </a:p>
        </p:txBody>
      </p:sp>
      <p:sp>
        <p:nvSpPr>
          <p:cNvPr id="11" name="Tag two"/>
          <p:cNvSpPr/>
          <p:nvPr/>
        </p:nvSpPr>
        <p:spPr>
          <a:xfrm>
            <a:off x="2971800" y="4983480"/>
            <a:ext cx="1828800" cy="438912"/>
          </a:xfrm>
          <a:prstGeom prst="roundRect">
            <a:avLst/>
          </a:prstGeom>
          <a:solidFill>
            <a:srgbClr val="1F3444"/>
          </a:solidFill>
          <a:ln w="12000">
            <a:solidFill>
              <a:srgbClr val="2C4053"/>
            </a:solidFill>
          </a:ln>
        </p:spPr>
        <p:txBody>
          <a:bodyPr/>
          <a:lstStyle/>
          <a:p/>
        </p:txBody>
      </p:sp>
      <p:sp>
        <p:nvSpPr>
          <p:cNvPr id="12" name="Tag text two"/>
          <p:cNvSpPr txBox="1"/>
          <p:nvPr/>
        </p:nvSpPr>
        <p:spPr>
          <a:xfrm>
            <a:off x="3090672" y="5084064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300" b="1">
                <a:solidFill>
                  <a:srgbClr val="F4F7FA"/>
                </a:solidFill>
                <a:latin typeface="Aptos"/>
                <a:cs typeface="Aptos"/>
              </a:rPr>
              <a:t>Проверки</a:t>
            </a:r>
          </a:p>
        </p:txBody>
      </p:sp>
      <p:sp>
        <p:nvSpPr>
          <p:cNvPr id="13" name="Tag three"/>
          <p:cNvSpPr/>
          <p:nvPr/>
        </p:nvSpPr>
        <p:spPr>
          <a:xfrm>
            <a:off x="4983480" y="4983480"/>
            <a:ext cx="1965960" cy="438912"/>
          </a:xfrm>
          <a:prstGeom prst="roundRect">
            <a:avLst/>
          </a:prstGeom>
          <a:solidFill>
            <a:srgbClr val="1F3444"/>
          </a:solidFill>
          <a:ln w="12000">
            <a:solidFill>
              <a:srgbClr val="2C4053"/>
            </a:solidFill>
          </a:ln>
        </p:spPr>
        <p:txBody>
          <a:bodyPr/>
          <a:lstStyle/>
          <a:p/>
        </p:txBody>
      </p:sp>
      <p:sp>
        <p:nvSpPr>
          <p:cNvPr id="14" name="Tag text three"/>
          <p:cNvSpPr txBox="1"/>
          <p:nvPr/>
        </p:nvSpPr>
        <p:spPr>
          <a:xfrm>
            <a:off x="5102352" y="508406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300" b="1">
                <a:solidFill>
                  <a:srgbClr val="F4F7FA"/>
                </a:solidFill>
                <a:latin typeface="Aptos"/>
                <a:cs typeface="Aptos"/>
              </a:rPr>
              <a:t>Ответственность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 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wash"/>
          <p:cNvSpPr/>
          <p:nvPr/>
        </p:nvSpPr>
        <p:spPr>
          <a:xfrm>
            <a:off x="10287000" y="0"/>
            <a:ext cx="1920240" cy="6858000"/>
          </a:xfrm>
          <a:prstGeom prst="rect">
            <a:avLst/>
          </a:prstGeom>
          <a:solidFill>
            <a:srgbClr val="14222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Kicker"/>
          <p:cNvSpPr txBox="1"/>
          <p:nvPr/>
        </p:nvSpPr>
        <p:spPr>
          <a:xfrm>
            <a:off x="594360" y="34747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50" b="1">
                <a:solidFill>
                  <a:srgbClr val="3DDC97"/>
                </a:solidFill>
                <a:latin typeface="Aptos"/>
                <a:cs typeface="Aptos"/>
              </a:rPr>
              <a:t>ПРОДУКТ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94360" y="685800"/>
            <a:ext cx="9372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2950" b="1">
                <a:solidFill>
                  <a:srgbClr val="F4F7FA"/>
                </a:solidFill>
                <a:latin typeface="Aptos"/>
                <a:cs typeface="Aptos"/>
              </a:rPr>
              <a:t>Не demo app, а доменный сервис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44200" y="4114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r" spAft="0"/>
            <a:r>
              <a:rPr lang="ru-RU" sz="1150" b="1">
                <a:solidFill>
                  <a:srgbClr val="A9B7C6"/>
                </a:solidFill>
                <a:latin typeface="Aptos"/>
                <a:cs typeface="Aptos"/>
              </a:rPr>
              <a:t>02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822960" y="1737360"/>
            <a:ext cx="7680960" cy="3611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Fantasy sports поверх реальных игр спортивной мафии из Polemica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Пользователи собирают команды из карточек реальных игроков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Очки считаются по результатам игр, перкам, редкости и лигам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Есть экономика: фантики, контракты, паки, marketplace, rewards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Два пользовательских контура: Telegram Mini App и админка</a:t>
            </a:r>
          </a:p>
        </p:txBody>
      </p:sp>
      <p:sp>
        <p:nvSpPr>
          <p:cNvPr id="9" name="Callout stripe"/>
          <p:cNvSpPr/>
          <p:nvPr/>
        </p:nvSpPr>
        <p:spPr>
          <a:xfrm>
            <a:off x="9006840" y="1737360"/>
            <a:ext cx="109728" cy="34747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llout bg"/>
          <p:cNvSpPr/>
          <p:nvPr/>
        </p:nvSpPr>
        <p:spPr>
          <a:xfrm>
            <a:off x="9189720" y="1737360"/>
            <a:ext cx="1508760" cy="3474720"/>
          </a:xfrm>
          <a:prstGeom prst="roundRect">
            <a:avLst/>
          </a:prstGeom>
          <a:solidFill>
            <a:srgbClr val="1B2D3A"/>
          </a:solidFill>
          <a:ln w="12000">
            <a:solidFill>
              <a:srgbClr val="2C4053"/>
            </a:solidFill>
          </a:ln>
        </p:spPr>
        <p:txBody>
          <a:bodyPr/>
          <a:lstStyle/>
          <a:p/>
        </p:txBody>
      </p:sp>
      <p:sp>
        <p:nvSpPr>
          <p:cNvPr id="11" name="Callout text"/>
          <p:cNvSpPr txBox="1"/>
          <p:nvPr/>
        </p:nvSpPr>
        <p:spPr>
          <a:xfrm>
            <a:off x="9326880" y="1965960"/>
            <a:ext cx="123444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80" b="1">
                <a:solidFill>
                  <a:srgbClr val="F4F7FA"/>
                </a:solidFill>
                <a:latin typeface="Aptos"/>
                <a:cs typeface="Aptos"/>
              </a:rPr>
              <a:t>Главная сложность: много доменных сущностей и живые production-сценарии, а не только код.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 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wash"/>
          <p:cNvSpPr/>
          <p:nvPr/>
        </p:nvSpPr>
        <p:spPr>
          <a:xfrm>
            <a:off x="10287000" y="0"/>
            <a:ext cx="1920240" cy="6858000"/>
          </a:xfrm>
          <a:prstGeom prst="rect">
            <a:avLst/>
          </a:prstGeom>
          <a:solidFill>
            <a:srgbClr val="14222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Kicker"/>
          <p:cNvSpPr txBox="1"/>
          <p:nvPr/>
        </p:nvSpPr>
        <p:spPr>
          <a:xfrm>
            <a:off x="594360" y="34747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50" b="1">
                <a:solidFill>
                  <a:srgbClr val="3DDC97"/>
                </a:solidFill>
                <a:latin typeface="Aptos"/>
                <a:cs typeface="Aptos"/>
              </a:rPr>
              <a:t>ТЕЗИС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94360" y="685800"/>
            <a:ext cx="9372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2950" b="1">
                <a:solidFill>
                  <a:srgbClr val="F4F7FA"/>
                </a:solidFill>
                <a:latin typeface="Aptos"/>
                <a:cs typeface="Aptos"/>
              </a:rPr>
              <a:t>AI-native — это не “AI написал код”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44200" y="4114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r" spAft="0"/>
            <a:r>
              <a:rPr lang="ru-RU" sz="1150" b="1">
                <a:solidFill>
                  <a:srgbClr val="A9B7C6"/>
                </a:solidFill>
                <a:latin typeface="Aptos"/>
                <a:cs typeface="Aptos"/>
              </a:rPr>
              <a:t>03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822960" y="1737360"/>
            <a:ext cx="7680960" cy="3611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Это система, где AI может быть постоянным инженерным участником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Контекст, инварианты и язык проекта зафиксированы явно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Изменения проходят через backend, DB, API contracts, TMA/admin UI и проверки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Человек остаётся владельцем продукта, экономики и риска</a:t>
            </a:r>
          </a:p>
        </p:txBody>
      </p:sp>
      <p:sp>
        <p:nvSpPr>
          <p:cNvPr id="9" name="Callout stripe"/>
          <p:cNvSpPr/>
          <p:nvPr/>
        </p:nvSpPr>
        <p:spPr>
          <a:xfrm>
            <a:off x="9006840" y="1737360"/>
            <a:ext cx="109728" cy="34747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llout bg"/>
          <p:cNvSpPr/>
          <p:nvPr/>
        </p:nvSpPr>
        <p:spPr>
          <a:xfrm>
            <a:off x="9189720" y="1737360"/>
            <a:ext cx="1508760" cy="3474720"/>
          </a:xfrm>
          <a:prstGeom prst="roundRect">
            <a:avLst/>
          </a:prstGeom>
          <a:solidFill>
            <a:srgbClr val="1B2D3A"/>
          </a:solidFill>
          <a:ln w="12000">
            <a:solidFill>
              <a:srgbClr val="2C4053"/>
            </a:solidFill>
          </a:ln>
        </p:spPr>
        <p:txBody>
          <a:bodyPr/>
          <a:lstStyle/>
          <a:p/>
        </p:txBody>
      </p:sp>
      <p:sp>
        <p:nvSpPr>
          <p:cNvPr id="11" name="Callout text"/>
          <p:cNvSpPr txBox="1"/>
          <p:nvPr/>
        </p:nvSpPr>
        <p:spPr>
          <a:xfrm>
            <a:off x="9326880" y="1965960"/>
            <a:ext cx="123444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80" b="1">
                <a:solidFill>
                  <a:srgbClr val="F4F7FA"/>
                </a:solidFill>
                <a:latin typeface="Aptos"/>
                <a:cs typeface="Aptos"/>
              </a:rPr>
              <a:t>Не промпты делают проект AI-native. Проект делает AI полезным через память, правила и проверяемые границы.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 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wash"/>
          <p:cNvSpPr/>
          <p:nvPr/>
        </p:nvSpPr>
        <p:spPr>
          <a:xfrm>
            <a:off x="10287000" y="0"/>
            <a:ext cx="1920240" cy="6858000"/>
          </a:xfrm>
          <a:prstGeom prst="rect">
            <a:avLst/>
          </a:prstGeom>
          <a:solidFill>
            <a:srgbClr val="14222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Kicker"/>
          <p:cNvSpPr txBox="1"/>
          <p:nvPr/>
        </p:nvSpPr>
        <p:spPr>
          <a:xfrm>
            <a:off x="594360" y="34747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50" b="1">
                <a:solidFill>
                  <a:srgbClr val="3DDC97"/>
                </a:solidFill>
                <a:latin typeface="Aptos"/>
                <a:cs typeface="Aptos"/>
              </a:rPr>
              <a:t>АРХИТЕКТУРА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94360" y="685800"/>
            <a:ext cx="9372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2950" b="1">
                <a:solidFill>
                  <a:srgbClr val="F4F7FA"/>
                </a:solidFill>
                <a:latin typeface="Aptos"/>
                <a:cs typeface="Aptos"/>
              </a:rPr>
              <a:t>Монолит + два SPA + внешняя Polemica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44200" y="4114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r" spAft="0"/>
            <a:r>
              <a:rPr lang="ru-RU" sz="1150" b="1">
                <a:solidFill>
                  <a:srgbClr val="A9B7C6"/>
                </a:solidFill>
                <a:latin typeface="Aptos"/>
                <a:cs typeface="Aptos"/>
              </a:rPr>
              <a:t>04</a:t>
            </a:r>
          </a:p>
        </p:txBody>
      </p:sp>
      <p:sp>
        <p:nvSpPr>
          <p:cNvPr id="8" name="TMA box"/>
          <p:cNvSpPr/>
          <p:nvPr/>
        </p:nvSpPr>
        <p:spPr>
          <a:xfrm>
            <a:off x="777240" y="1874519"/>
            <a:ext cx="1920240" cy="914400"/>
          </a:xfrm>
          <a:prstGeom prst="roundRect">
            <a:avLst/>
          </a:prstGeom>
          <a:solidFill>
            <a:srgbClr val="182635"/>
          </a:solidFill>
          <a:ln w="16000">
            <a:solidFill>
              <a:srgbClr val="6EE7F9"/>
            </a:solidFill>
          </a:ln>
        </p:spPr>
        <p:txBody>
          <a:bodyPr/>
          <a:lstStyle/>
          <a:p/>
        </p:txBody>
      </p:sp>
      <p:sp>
        <p:nvSpPr>
          <p:cNvPr id="9" name="TMA text"/>
          <p:cNvSpPr txBox="1"/>
          <p:nvPr/>
        </p:nvSpPr>
        <p:spPr>
          <a:xfrm>
            <a:off x="923544" y="2020824"/>
            <a:ext cx="1627632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250"/>
            <a:r>
              <a:rPr lang="ru-RU" sz="1850" b="1">
                <a:solidFill>
                  <a:srgbClr val="6EE7F9"/>
                </a:solidFill>
                <a:latin typeface="Aptos"/>
                <a:cs typeface="Aptos"/>
              </a:rPr>
              <a:t>TMA</a:t>
            </a:r>
          </a:p>
          <a:p>
            <a:pPr spAft="80"/>
            <a:r>
              <a:rPr lang="ru-RU" sz="1250">
                <a:solidFill>
                  <a:srgbClr val="A9B7C6"/>
                </a:solidFill>
                <a:latin typeface="Aptos"/>
                <a:cs typeface="Aptos"/>
              </a:rPr>
              <a:t>React 19</a:t>
            </a:r>
          </a:p>
          <a:p>
            <a:pPr spAft="80"/>
            <a:r>
              <a:rPr lang="ru-RU" sz="1250">
                <a:solidFill>
                  <a:srgbClr val="A9B7C6"/>
                </a:solidFill>
                <a:latin typeface="Aptos"/>
                <a:cs typeface="Aptos"/>
              </a:rPr>
              <a:t>Telegram Mini App</a:t>
            </a:r>
          </a:p>
        </p:txBody>
      </p:sp>
      <p:sp>
        <p:nvSpPr>
          <p:cNvPr id="10" name="Admin box"/>
          <p:cNvSpPr/>
          <p:nvPr/>
        </p:nvSpPr>
        <p:spPr>
          <a:xfrm>
            <a:off x="777240" y="3337560"/>
            <a:ext cx="1920240" cy="914400"/>
          </a:xfrm>
          <a:prstGeom prst="roundRect">
            <a:avLst/>
          </a:prstGeom>
          <a:solidFill>
            <a:srgbClr val="182635"/>
          </a:solidFill>
          <a:ln w="16000">
            <a:solidFill>
              <a:srgbClr val="FFB86C"/>
            </a:solidFill>
          </a:ln>
        </p:spPr>
        <p:txBody>
          <a:bodyPr/>
          <a:lstStyle/>
          <a:p/>
        </p:txBody>
      </p:sp>
      <p:sp>
        <p:nvSpPr>
          <p:cNvPr id="11" name="Admin text"/>
          <p:cNvSpPr txBox="1"/>
          <p:nvPr/>
        </p:nvSpPr>
        <p:spPr>
          <a:xfrm>
            <a:off x="923544" y="3483864"/>
            <a:ext cx="1627632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250"/>
            <a:r>
              <a:rPr lang="ru-RU" sz="1850" b="1">
                <a:solidFill>
                  <a:srgbClr val="FFB86C"/>
                </a:solidFill>
                <a:latin typeface="Aptos"/>
                <a:cs typeface="Aptos"/>
              </a:rPr>
              <a:t>Admin</a:t>
            </a:r>
          </a:p>
          <a:p>
            <a:pPr spAft="80"/>
            <a:r>
              <a:rPr lang="ru-RU" sz="1250">
                <a:solidFill>
                  <a:srgbClr val="A9B7C6"/>
                </a:solidFill>
                <a:latin typeface="Aptos"/>
                <a:cs typeface="Aptos"/>
              </a:rPr>
              <a:t>React 19</a:t>
            </a:r>
          </a:p>
          <a:p>
            <a:pPr spAft="80"/>
            <a:r>
              <a:rPr lang="ru-RU" sz="1250">
                <a:solidFill>
                  <a:srgbClr val="A9B7C6"/>
                </a:solidFill>
                <a:latin typeface="Aptos"/>
                <a:cs typeface="Aptos"/>
              </a:rPr>
              <a:t>Ant Design</a:t>
            </a:r>
          </a:p>
        </p:txBody>
      </p:sp>
      <p:sp>
        <p:nvSpPr>
          <p:cNvPr id="12" name="Backend box"/>
          <p:cNvSpPr/>
          <p:nvPr/>
        </p:nvSpPr>
        <p:spPr>
          <a:xfrm>
            <a:off x="3977639" y="2331720"/>
            <a:ext cx="2377440" cy="1143000"/>
          </a:xfrm>
          <a:prstGeom prst="roundRect">
            <a:avLst/>
          </a:prstGeom>
          <a:solidFill>
            <a:srgbClr val="182635"/>
          </a:solidFill>
          <a:ln w="16000">
            <a:solidFill>
              <a:srgbClr val="3DDC97"/>
            </a:solidFill>
          </a:ln>
        </p:spPr>
        <p:txBody>
          <a:bodyPr/>
          <a:lstStyle/>
          <a:p/>
        </p:txBody>
      </p:sp>
      <p:sp>
        <p:nvSpPr>
          <p:cNvPr id="13" name="Backend text"/>
          <p:cNvSpPr txBox="1"/>
          <p:nvPr/>
        </p:nvSpPr>
        <p:spPr>
          <a:xfrm>
            <a:off x="4123944" y="2478024"/>
            <a:ext cx="2084832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250"/>
            <a:r>
              <a:rPr lang="ru-RU" sz="1850" b="1">
                <a:solidFill>
                  <a:srgbClr val="3DDC97"/>
                </a:solidFill>
                <a:latin typeface="Aptos"/>
                <a:cs typeface="Aptos"/>
              </a:rPr>
              <a:t>Backend</a:t>
            </a:r>
          </a:p>
          <a:p>
            <a:pPr spAft="80"/>
            <a:r>
              <a:rPr lang="ru-RU" sz="1250">
                <a:solidFill>
                  <a:srgbClr val="A9B7C6"/>
                </a:solidFill>
                <a:latin typeface="Aptos"/>
                <a:cs typeface="Aptos"/>
              </a:rPr>
              <a:t>Kotlin · Spring Boot</a:t>
            </a:r>
          </a:p>
          <a:p>
            <a:pPr spAft="80"/>
            <a:r>
              <a:rPr lang="ru-RU" sz="1250">
                <a:solidFill>
                  <a:srgbClr val="A9B7C6"/>
                </a:solidFill>
                <a:latin typeface="Aptos"/>
                <a:cs typeface="Aptos"/>
              </a:rPr>
              <a:t>User API + Admin API</a:t>
            </a:r>
          </a:p>
        </p:txBody>
      </p:sp>
      <p:sp>
        <p:nvSpPr>
          <p:cNvPr id="14" name="PostgreSQL box"/>
          <p:cNvSpPr/>
          <p:nvPr/>
        </p:nvSpPr>
        <p:spPr>
          <a:xfrm>
            <a:off x="7543800" y="2331720"/>
            <a:ext cx="2377440" cy="1143000"/>
          </a:xfrm>
          <a:prstGeom prst="roundRect">
            <a:avLst/>
          </a:prstGeom>
          <a:solidFill>
            <a:srgbClr val="182635"/>
          </a:solidFill>
          <a:ln w="16000">
            <a:solidFill>
              <a:srgbClr val="6EE7F9"/>
            </a:solidFill>
          </a:ln>
        </p:spPr>
        <p:txBody>
          <a:bodyPr/>
          <a:lstStyle/>
          <a:p/>
        </p:txBody>
      </p:sp>
      <p:sp>
        <p:nvSpPr>
          <p:cNvPr id="15" name="PostgreSQL text"/>
          <p:cNvSpPr txBox="1"/>
          <p:nvPr/>
        </p:nvSpPr>
        <p:spPr>
          <a:xfrm>
            <a:off x="7690104" y="2478024"/>
            <a:ext cx="2084832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250"/>
            <a:r>
              <a:rPr lang="ru-RU" sz="1850" b="1">
                <a:solidFill>
                  <a:srgbClr val="6EE7F9"/>
                </a:solidFill>
                <a:latin typeface="Aptos"/>
                <a:cs typeface="Aptos"/>
              </a:rPr>
              <a:t>PostgreSQL</a:t>
            </a:r>
          </a:p>
          <a:p>
            <a:pPr spAft="80"/>
            <a:r>
              <a:rPr lang="ru-RU" sz="1250">
                <a:solidFill>
                  <a:srgbClr val="A9B7C6"/>
                </a:solidFill>
                <a:latin typeface="Aptos"/>
                <a:cs typeface="Aptos"/>
              </a:rPr>
              <a:t>Flyway · JSONB cache</a:t>
            </a:r>
          </a:p>
          <a:p>
            <a:pPr spAft="80"/>
            <a:r>
              <a:rPr lang="ru-RU" sz="1250">
                <a:solidFill>
                  <a:srgbClr val="A9B7C6"/>
                </a:solidFill>
                <a:latin typeface="Aptos"/>
                <a:cs typeface="Aptos"/>
              </a:rPr>
              <a:t>fantiki · cards · scores</a:t>
            </a:r>
          </a:p>
        </p:txBody>
      </p:sp>
      <p:sp>
        <p:nvSpPr>
          <p:cNvPr id="16" name="Polemica box"/>
          <p:cNvSpPr/>
          <p:nvPr/>
        </p:nvSpPr>
        <p:spPr>
          <a:xfrm>
            <a:off x="3977639" y="4572000"/>
            <a:ext cx="2377440" cy="868680"/>
          </a:xfrm>
          <a:prstGeom prst="roundRect">
            <a:avLst/>
          </a:prstGeom>
          <a:solidFill>
            <a:srgbClr val="182635"/>
          </a:solidFill>
          <a:ln w="16000">
            <a:solidFill>
              <a:srgbClr val="FFB86C"/>
            </a:solidFill>
          </a:ln>
        </p:spPr>
        <p:txBody>
          <a:bodyPr/>
          <a:lstStyle/>
          <a:p/>
        </p:txBody>
      </p:sp>
      <p:sp>
        <p:nvSpPr>
          <p:cNvPr id="17" name="Polemica text"/>
          <p:cNvSpPr txBox="1"/>
          <p:nvPr/>
        </p:nvSpPr>
        <p:spPr>
          <a:xfrm>
            <a:off x="4123944" y="4718304"/>
            <a:ext cx="2084832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250"/>
            <a:r>
              <a:rPr lang="ru-RU" sz="1850" b="1">
                <a:solidFill>
                  <a:srgbClr val="FFB86C"/>
                </a:solidFill>
                <a:latin typeface="Aptos"/>
                <a:cs typeface="Aptos"/>
              </a:rPr>
              <a:t>Polemica</a:t>
            </a:r>
          </a:p>
          <a:p>
            <a:pPr spAft="80"/>
            <a:r>
              <a:rPr lang="ru-RU" sz="1250">
                <a:solidFill>
                  <a:srgbClr val="A9B7C6"/>
                </a:solidFill>
                <a:latin typeface="Aptos"/>
                <a:cs typeface="Aptos"/>
              </a:rPr>
              <a:t>Players · games</a:t>
            </a:r>
          </a:p>
          <a:p>
            <a:pPr spAft="80"/>
            <a:r>
              <a:rPr lang="ru-RU" sz="1250">
                <a:solidFill>
                  <a:srgbClr val="A9B7C6"/>
                </a:solidFill>
                <a:latin typeface="Aptos"/>
                <a:cs typeface="Aptos"/>
              </a:rPr>
              <a:t>competition data</a:t>
            </a:r>
          </a:p>
        </p:txBody>
      </p:sp>
      <p:sp>
        <p:nvSpPr>
          <p:cNvPr id="18" name="Telegram Bot box"/>
          <p:cNvSpPr/>
          <p:nvPr/>
        </p:nvSpPr>
        <p:spPr>
          <a:xfrm>
            <a:off x="7543800" y="4572000"/>
            <a:ext cx="2377440" cy="868680"/>
          </a:xfrm>
          <a:prstGeom prst="roundRect">
            <a:avLst/>
          </a:prstGeom>
          <a:solidFill>
            <a:srgbClr val="182635"/>
          </a:solidFill>
          <a:ln w="16000">
            <a:solidFill>
              <a:srgbClr val="3DDC97"/>
            </a:solidFill>
          </a:ln>
        </p:spPr>
        <p:txBody>
          <a:bodyPr/>
          <a:lstStyle/>
          <a:p/>
        </p:txBody>
      </p:sp>
      <p:sp>
        <p:nvSpPr>
          <p:cNvPr id="19" name="Telegram Bot text"/>
          <p:cNvSpPr txBox="1"/>
          <p:nvPr/>
        </p:nvSpPr>
        <p:spPr>
          <a:xfrm>
            <a:off x="7690104" y="4718304"/>
            <a:ext cx="2084832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250"/>
            <a:r>
              <a:rPr lang="ru-RU" sz="1850" b="1">
                <a:solidFill>
                  <a:srgbClr val="3DDC97"/>
                </a:solidFill>
                <a:latin typeface="Aptos"/>
                <a:cs typeface="Aptos"/>
              </a:rPr>
              <a:t>Telegram Bot</a:t>
            </a:r>
          </a:p>
          <a:p>
            <a:pPr spAft="80"/>
            <a:r>
              <a:rPr lang="ru-RU" sz="1250">
                <a:solidFill>
                  <a:srgbClr val="A9B7C6"/>
                </a:solidFill>
                <a:latin typeface="Aptos"/>
                <a:cs typeface="Aptos"/>
              </a:rPr>
              <a:t>Auth · notifications</a:t>
            </a:r>
          </a:p>
          <a:p>
            <a:pPr spAft="80"/>
            <a:r>
              <a:rPr lang="ru-RU" sz="1250">
                <a:solidFill>
                  <a:srgbClr val="A9B7C6"/>
                </a:solidFill>
                <a:latin typeface="Aptos"/>
                <a:cs typeface="Aptos"/>
              </a:rPr>
              <a:t>support relay</a:t>
            </a:r>
          </a:p>
        </p:txBody>
      </p:sp>
      <p:sp>
        <p:nvSpPr>
          <p:cNvPr id="20" name="Flow line 1"/>
          <p:cNvSpPr/>
          <p:nvPr/>
        </p:nvSpPr>
        <p:spPr>
          <a:xfrm>
            <a:off x="2788920" y="2697480"/>
            <a:ext cx="1051560" cy="27432"/>
          </a:xfrm>
          <a:prstGeom prst="rect">
            <a:avLst/>
          </a:prstGeom>
          <a:solidFill>
            <a:srgbClr val="2C405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low line 2"/>
          <p:cNvSpPr/>
          <p:nvPr/>
        </p:nvSpPr>
        <p:spPr>
          <a:xfrm>
            <a:off x="2788920" y="3794760"/>
            <a:ext cx="1051560" cy="27432"/>
          </a:xfrm>
          <a:prstGeom prst="rect">
            <a:avLst/>
          </a:prstGeom>
          <a:solidFill>
            <a:srgbClr val="2C405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Flow line 3"/>
          <p:cNvSpPr/>
          <p:nvPr/>
        </p:nvSpPr>
        <p:spPr>
          <a:xfrm>
            <a:off x="6492240" y="2788920"/>
            <a:ext cx="960120" cy="27432"/>
          </a:xfrm>
          <a:prstGeom prst="rect">
            <a:avLst/>
          </a:prstGeom>
          <a:solidFill>
            <a:srgbClr val="2C405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Flow line 4"/>
          <p:cNvSpPr/>
          <p:nvPr/>
        </p:nvSpPr>
        <p:spPr>
          <a:xfrm>
            <a:off x="5120640" y="3566160"/>
            <a:ext cx="27432" cy="868680"/>
          </a:xfrm>
          <a:prstGeom prst="rect">
            <a:avLst/>
          </a:prstGeom>
          <a:solidFill>
            <a:srgbClr val="2C4053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 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wash"/>
          <p:cNvSpPr/>
          <p:nvPr/>
        </p:nvSpPr>
        <p:spPr>
          <a:xfrm>
            <a:off x="10287000" y="0"/>
            <a:ext cx="1920240" cy="6858000"/>
          </a:xfrm>
          <a:prstGeom prst="rect">
            <a:avLst/>
          </a:prstGeom>
          <a:solidFill>
            <a:srgbClr val="14222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Kicker"/>
          <p:cNvSpPr txBox="1"/>
          <p:nvPr/>
        </p:nvSpPr>
        <p:spPr>
          <a:xfrm>
            <a:off x="594360" y="34747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50" b="1">
                <a:solidFill>
                  <a:srgbClr val="3DDC97"/>
                </a:solidFill>
                <a:latin typeface="Aptos"/>
                <a:cs typeface="Aptos"/>
              </a:rPr>
              <a:t>ПАМЯТЬ ПРОЕКТА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94360" y="685800"/>
            <a:ext cx="9372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2950" b="1">
                <a:solidFill>
                  <a:srgbClr val="F4F7FA"/>
                </a:solidFill>
                <a:latin typeface="Aptos"/>
                <a:cs typeface="Aptos"/>
              </a:rPr>
              <a:t>AI получает не только код, но и рабочую модель мира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44200" y="4114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r" spAft="0"/>
            <a:r>
              <a:rPr lang="ru-RU" sz="1150" b="1">
                <a:solidFill>
                  <a:srgbClr val="A9B7C6"/>
                </a:solidFill>
                <a:latin typeface="Aptos"/>
                <a:cs typeface="Aptos"/>
              </a:rPr>
              <a:t>05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822960" y="1737360"/>
            <a:ext cx="7680960" cy="3611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AGENTS.md: как работать, что читать, какие проверки запускать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memory-bank: active context, progress, system patterns, tech context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glossary.md: пользователь != игрок, серия != игра, турнир != соревнование Polemica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operationalInsights.md: наблюдения эксплуатации, например same-day серии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Project skills: feature discovery, local testing, prod DB readonly</a:t>
            </a:r>
          </a:p>
        </p:txBody>
      </p:sp>
      <p:sp>
        <p:nvSpPr>
          <p:cNvPr id="9" name="Callout stripe"/>
          <p:cNvSpPr/>
          <p:nvPr/>
        </p:nvSpPr>
        <p:spPr>
          <a:xfrm>
            <a:off x="9006840" y="1737360"/>
            <a:ext cx="109728" cy="34747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llout bg"/>
          <p:cNvSpPr/>
          <p:nvPr/>
        </p:nvSpPr>
        <p:spPr>
          <a:xfrm>
            <a:off x="9189720" y="1737360"/>
            <a:ext cx="1508760" cy="3474720"/>
          </a:xfrm>
          <a:prstGeom prst="roundRect">
            <a:avLst/>
          </a:prstGeom>
          <a:solidFill>
            <a:srgbClr val="1B2D3A"/>
          </a:solidFill>
          <a:ln w="12000">
            <a:solidFill>
              <a:srgbClr val="2C4053"/>
            </a:solidFill>
          </a:ln>
        </p:spPr>
        <p:txBody>
          <a:bodyPr/>
          <a:lstStyle/>
          <a:p/>
        </p:txBody>
      </p:sp>
      <p:sp>
        <p:nvSpPr>
          <p:cNvPr id="11" name="Callout text"/>
          <p:cNvSpPr txBox="1"/>
          <p:nvPr/>
        </p:nvSpPr>
        <p:spPr>
          <a:xfrm>
            <a:off x="9326880" y="1965960"/>
            <a:ext cx="123444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80" b="1">
                <a:solidFill>
                  <a:srgbClr val="F4F7FA"/>
                </a:solidFill>
                <a:latin typeface="Aptos"/>
                <a:cs typeface="Aptos"/>
              </a:rPr>
              <a:t>Самый дорогой актив для AI — не “идеальный промпт”, а аккуратно сохранённый контекст решений.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 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wash"/>
          <p:cNvSpPr/>
          <p:nvPr/>
        </p:nvSpPr>
        <p:spPr>
          <a:xfrm>
            <a:off x="10287000" y="0"/>
            <a:ext cx="1920240" cy="6858000"/>
          </a:xfrm>
          <a:prstGeom prst="rect">
            <a:avLst/>
          </a:prstGeom>
          <a:solidFill>
            <a:srgbClr val="14222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Kicker"/>
          <p:cNvSpPr txBox="1"/>
          <p:nvPr/>
        </p:nvSpPr>
        <p:spPr>
          <a:xfrm>
            <a:off x="594360" y="34747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50" b="1">
                <a:solidFill>
                  <a:srgbClr val="3DDC97"/>
                </a:solidFill>
                <a:latin typeface="Aptos"/>
                <a:cs typeface="Aptos"/>
              </a:rPr>
              <a:t>РАБОЧИЙ ЦИКЛ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94360" y="685800"/>
            <a:ext cx="9372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2950" b="1">
                <a:solidFill>
                  <a:srgbClr val="F4F7FA"/>
                </a:solidFill>
                <a:latin typeface="Aptos"/>
                <a:cs typeface="Aptos"/>
              </a:rPr>
              <a:t>Как выглядит full-stack фича через AI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44200" y="4114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r" spAft="0"/>
            <a:r>
              <a:rPr lang="ru-RU" sz="1150" b="1">
                <a:solidFill>
                  <a:srgbClr val="A9B7C6"/>
                </a:solidFill>
                <a:latin typeface="Aptos"/>
                <a:cs typeface="Aptos"/>
              </a:rPr>
              <a:t>06</a:t>
            </a:r>
          </a:p>
        </p:txBody>
      </p:sp>
      <p:sp>
        <p:nvSpPr>
          <p:cNvPr id="8" name="Step 1"/>
          <p:cNvSpPr/>
          <p:nvPr/>
        </p:nvSpPr>
        <p:spPr>
          <a:xfrm>
            <a:off x="658368" y="2057400"/>
            <a:ext cx="2331720" cy="713232"/>
          </a:xfrm>
          <a:prstGeom prst="roundRect">
            <a:avLst/>
          </a:prstGeom>
          <a:solidFill>
            <a:srgbClr val="172533"/>
          </a:solidFill>
          <a:ln w="14000">
            <a:solidFill>
              <a:srgbClr val="3DDC97"/>
            </a:solidFill>
          </a:ln>
        </p:spPr>
        <p:txBody>
          <a:bodyPr/>
          <a:lstStyle/>
          <a:p/>
        </p:txBody>
      </p:sp>
      <p:sp>
        <p:nvSpPr>
          <p:cNvPr id="9" name="Step 1 text"/>
          <p:cNvSpPr txBox="1"/>
          <p:nvPr/>
        </p:nvSpPr>
        <p:spPr>
          <a:xfrm>
            <a:off x="804672" y="222199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350" b="1">
                <a:solidFill>
                  <a:srgbClr val="F4F7FA"/>
                </a:solidFill>
                <a:latin typeface="Aptos"/>
                <a:cs typeface="Aptos"/>
              </a:rPr>
              <a:t>1. Product decision</a:t>
            </a:r>
          </a:p>
        </p:txBody>
      </p:sp>
      <p:sp>
        <p:nvSpPr>
          <p:cNvPr id="10" name="Step 2"/>
          <p:cNvSpPr/>
          <p:nvPr/>
        </p:nvSpPr>
        <p:spPr>
          <a:xfrm>
            <a:off x="3401568" y="2057400"/>
            <a:ext cx="2331720" cy="713232"/>
          </a:xfrm>
          <a:prstGeom prst="roundRect">
            <a:avLst/>
          </a:prstGeom>
          <a:solidFill>
            <a:srgbClr val="172533"/>
          </a:solidFill>
          <a:ln w="14000">
            <a:solidFill>
              <a:srgbClr val="6EE7F9"/>
            </a:solidFill>
          </a:ln>
        </p:spPr>
        <p:txBody>
          <a:bodyPr/>
          <a:lstStyle/>
          <a:p/>
        </p:txBody>
      </p:sp>
      <p:sp>
        <p:nvSpPr>
          <p:cNvPr id="11" name="Step 2 text"/>
          <p:cNvSpPr txBox="1"/>
          <p:nvPr/>
        </p:nvSpPr>
        <p:spPr>
          <a:xfrm>
            <a:off x="3547872" y="222199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350" b="1">
                <a:solidFill>
                  <a:srgbClr val="F4F7FA"/>
                </a:solidFill>
                <a:latin typeface="Aptos"/>
                <a:cs typeface="Aptos"/>
              </a:rPr>
              <a:t>2. Domain invariant</a:t>
            </a:r>
          </a:p>
        </p:txBody>
      </p:sp>
      <p:sp>
        <p:nvSpPr>
          <p:cNvPr id="12" name="Step 3"/>
          <p:cNvSpPr/>
          <p:nvPr/>
        </p:nvSpPr>
        <p:spPr>
          <a:xfrm>
            <a:off x="6144768" y="2057400"/>
            <a:ext cx="2331720" cy="713232"/>
          </a:xfrm>
          <a:prstGeom prst="roundRect">
            <a:avLst/>
          </a:prstGeom>
          <a:solidFill>
            <a:srgbClr val="172533"/>
          </a:solidFill>
          <a:ln w="14000">
            <a:solidFill>
              <a:srgbClr val="FFB86C"/>
            </a:solidFill>
          </a:ln>
        </p:spPr>
        <p:txBody>
          <a:bodyPr/>
          <a:lstStyle/>
          <a:p/>
        </p:txBody>
      </p:sp>
      <p:sp>
        <p:nvSpPr>
          <p:cNvPr id="13" name="Step 3 text"/>
          <p:cNvSpPr txBox="1"/>
          <p:nvPr/>
        </p:nvSpPr>
        <p:spPr>
          <a:xfrm>
            <a:off x="6291072" y="222199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350" b="1">
                <a:solidFill>
                  <a:srgbClr val="F4F7FA"/>
                </a:solidFill>
                <a:latin typeface="Aptos"/>
                <a:cs typeface="Aptos"/>
              </a:rPr>
              <a:t>3. Flyway migration</a:t>
            </a:r>
          </a:p>
        </p:txBody>
      </p:sp>
      <p:sp>
        <p:nvSpPr>
          <p:cNvPr id="14" name="Step 4"/>
          <p:cNvSpPr/>
          <p:nvPr/>
        </p:nvSpPr>
        <p:spPr>
          <a:xfrm>
            <a:off x="8887968" y="2057400"/>
            <a:ext cx="2331720" cy="713232"/>
          </a:xfrm>
          <a:prstGeom prst="roundRect">
            <a:avLst/>
          </a:prstGeom>
          <a:solidFill>
            <a:srgbClr val="172533"/>
          </a:solidFill>
          <a:ln w="14000">
            <a:solidFill>
              <a:srgbClr val="FF6B6B"/>
            </a:solidFill>
          </a:ln>
        </p:spPr>
        <p:txBody>
          <a:bodyPr/>
          <a:lstStyle/>
          <a:p/>
        </p:txBody>
      </p:sp>
      <p:sp>
        <p:nvSpPr>
          <p:cNvPr id="15" name="Step 4 text"/>
          <p:cNvSpPr txBox="1"/>
          <p:nvPr/>
        </p:nvSpPr>
        <p:spPr>
          <a:xfrm>
            <a:off x="9034272" y="222199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350" b="1">
                <a:solidFill>
                  <a:srgbClr val="F4F7FA"/>
                </a:solidFill>
                <a:latin typeface="Aptos"/>
                <a:cs typeface="Aptos"/>
              </a:rPr>
              <a:t>4. Service + repository</a:t>
            </a:r>
          </a:p>
        </p:txBody>
      </p:sp>
      <p:sp>
        <p:nvSpPr>
          <p:cNvPr id="16" name="Step 5"/>
          <p:cNvSpPr/>
          <p:nvPr/>
        </p:nvSpPr>
        <p:spPr>
          <a:xfrm>
            <a:off x="658368" y="3200400"/>
            <a:ext cx="2331720" cy="713232"/>
          </a:xfrm>
          <a:prstGeom prst="roundRect">
            <a:avLst/>
          </a:prstGeom>
          <a:solidFill>
            <a:srgbClr val="172533"/>
          </a:solidFill>
          <a:ln w="14000">
            <a:solidFill>
              <a:srgbClr val="3DDC97"/>
            </a:solidFill>
          </a:ln>
        </p:spPr>
        <p:txBody>
          <a:bodyPr/>
          <a:lstStyle/>
          <a:p/>
        </p:txBody>
      </p:sp>
      <p:sp>
        <p:nvSpPr>
          <p:cNvPr id="17" name="Step 5 text"/>
          <p:cNvSpPr txBox="1"/>
          <p:nvPr/>
        </p:nvSpPr>
        <p:spPr>
          <a:xfrm>
            <a:off x="804672" y="336499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350" b="1">
                <a:solidFill>
                  <a:srgbClr val="F4F7FA"/>
                </a:solidFill>
                <a:latin typeface="Aptos"/>
                <a:cs typeface="Aptos"/>
              </a:rPr>
              <a:t>5. DTO + API client</a:t>
            </a:r>
          </a:p>
        </p:txBody>
      </p:sp>
      <p:sp>
        <p:nvSpPr>
          <p:cNvPr id="18" name="Step 6"/>
          <p:cNvSpPr/>
          <p:nvPr/>
        </p:nvSpPr>
        <p:spPr>
          <a:xfrm>
            <a:off x="3401568" y="3200400"/>
            <a:ext cx="2331720" cy="713232"/>
          </a:xfrm>
          <a:prstGeom prst="roundRect">
            <a:avLst/>
          </a:prstGeom>
          <a:solidFill>
            <a:srgbClr val="172533"/>
          </a:solidFill>
          <a:ln w="14000">
            <a:solidFill>
              <a:srgbClr val="6EE7F9"/>
            </a:solidFill>
          </a:ln>
        </p:spPr>
        <p:txBody>
          <a:bodyPr/>
          <a:lstStyle/>
          <a:p/>
        </p:txBody>
      </p:sp>
      <p:sp>
        <p:nvSpPr>
          <p:cNvPr id="19" name="Step 6 text"/>
          <p:cNvSpPr txBox="1"/>
          <p:nvPr/>
        </p:nvSpPr>
        <p:spPr>
          <a:xfrm>
            <a:off x="3547872" y="336499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350" b="1">
                <a:solidFill>
                  <a:srgbClr val="F4F7FA"/>
                </a:solidFill>
                <a:latin typeface="Aptos"/>
                <a:cs typeface="Aptos"/>
              </a:rPr>
              <a:t>6. TMA/Admin UI</a:t>
            </a:r>
          </a:p>
        </p:txBody>
      </p:sp>
      <p:sp>
        <p:nvSpPr>
          <p:cNvPr id="20" name="Step 7"/>
          <p:cNvSpPr/>
          <p:nvPr/>
        </p:nvSpPr>
        <p:spPr>
          <a:xfrm>
            <a:off x="6144768" y="3200400"/>
            <a:ext cx="2331720" cy="713232"/>
          </a:xfrm>
          <a:prstGeom prst="roundRect">
            <a:avLst/>
          </a:prstGeom>
          <a:solidFill>
            <a:srgbClr val="172533"/>
          </a:solidFill>
          <a:ln w="14000">
            <a:solidFill>
              <a:srgbClr val="FFB86C"/>
            </a:solidFill>
          </a:ln>
        </p:spPr>
        <p:txBody>
          <a:bodyPr/>
          <a:lstStyle/>
          <a:p/>
        </p:txBody>
      </p:sp>
      <p:sp>
        <p:nvSpPr>
          <p:cNvPr id="21" name="Step 7 text"/>
          <p:cNvSpPr txBox="1"/>
          <p:nvPr/>
        </p:nvSpPr>
        <p:spPr>
          <a:xfrm>
            <a:off x="6291072" y="336499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350" b="1">
                <a:solidFill>
                  <a:srgbClr val="F4F7FA"/>
                </a:solidFill>
                <a:latin typeface="Aptos"/>
                <a:cs typeface="Aptos"/>
              </a:rPr>
              <a:t>7. Targeted tests</a:t>
            </a:r>
          </a:p>
        </p:txBody>
      </p:sp>
      <p:sp>
        <p:nvSpPr>
          <p:cNvPr id="22" name="Step 8"/>
          <p:cNvSpPr/>
          <p:nvPr/>
        </p:nvSpPr>
        <p:spPr>
          <a:xfrm>
            <a:off x="8887968" y="3200400"/>
            <a:ext cx="2331720" cy="713232"/>
          </a:xfrm>
          <a:prstGeom prst="roundRect">
            <a:avLst/>
          </a:prstGeom>
          <a:solidFill>
            <a:srgbClr val="172533"/>
          </a:solidFill>
          <a:ln w="14000">
            <a:solidFill>
              <a:srgbClr val="FF6B6B"/>
            </a:solidFill>
          </a:ln>
        </p:spPr>
        <p:txBody>
          <a:bodyPr/>
          <a:lstStyle/>
          <a:p/>
        </p:txBody>
      </p:sp>
      <p:sp>
        <p:nvSpPr>
          <p:cNvPr id="23" name="Step 8 text"/>
          <p:cNvSpPr txBox="1"/>
          <p:nvPr/>
        </p:nvSpPr>
        <p:spPr>
          <a:xfrm>
            <a:off x="9034272" y="336499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350" b="1">
                <a:solidFill>
                  <a:srgbClr val="F4F7FA"/>
                </a:solidFill>
                <a:latin typeface="Aptos"/>
                <a:cs typeface="Aptos"/>
              </a:rPr>
              <a:t>8. Memory update</a:t>
            </a:r>
          </a:p>
        </p:txBody>
      </p:sp>
      <p:sp>
        <p:nvSpPr>
          <p:cNvPr id="24" name="Callout bg"/>
          <p:cNvSpPr/>
          <p:nvPr/>
        </p:nvSpPr>
        <p:spPr>
          <a:xfrm>
            <a:off x="731520" y="4983480"/>
            <a:ext cx="9509760" cy="594360"/>
          </a:xfrm>
          <a:prstGeom prst="roundRect">
            <a:avLst/>
          </a:prstGeom>
          <a:solidFill>
            <a:srgbClr val="1D3140"/>
          </a:solidFill>
          <a:ln w="12000">
            <a:solidFill>
              <a:srgbClr val="3DDC97"/>
            </a:solidFill>
          </a:ln>
        </p:spPr>
        <p:txBody>
          <a:bodyPr/>
          <a:lstStyle/>
          <a:p/>
        </p:txBody>
      </p:sp>
      <p:sp>
        <p:nvSpPr>
          <p:cNvPr id="25" name="Callout text"/>
          <p:cNvSpPr txBox="1"/>
          <p:nvPr/>
        </p:nvSpPr>
        <p:spPr>
          <a:xfrm>
            <a:off x="914400" y="5120640"/>
            <a:ext cx="9098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250">
                <a:solidFill>
                  <a:srgbClr val="F4F7FA"/>
                </a:solidFill>
                <a:latin typeface="Aptos"/>
                <a:cs typeface="Aptos"/>
              </a:rPr>
              <a:t>AI полезен, когда ему поручают вертикальный срез, а не изолированный кусок интерфейса или SQL.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 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wash"/>
          <p:cNvSpPr/>
          <p:nvPr/>
        </p:nvSpPr>
        <p:spPr>
          <a:xfrm>
            <a:off x="10287000" y="0"/>
            <a:ext cx="1920240" cy="6858000"/>
          </a:xfrm>
          <a:prstGeom prst="rect">
            <a:avLst/>
          </a:prstGeom>
          <a:solidFill>
            <a:srgbClr val="14222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Kicker"/>
          <p:cNvSpPr txBox="1"/>
          <p:nvPr/>
        </p:nvSpPr>
        <p:spPr>
          <a:xfrm>
            <a:off x="594360" y="34747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50" b="1">
                <a:solidFill>
                  <a:srgbClr val="3DDC97"/>
                </a:solidFill>
                <a:latin typeface="Aptos"/>
                <a:cs typeface="Aptos"/>
              </a:rPr>
              <a:t>ПРИМЕР 1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94360" y="685800"/>
            <a:ext cx="9372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2950" b="1">
                <a:solidFill>
                  <a:srgbClr val="F4F7FA"/>
                </a:solidFill>
                <a:latin typeface="Aptos"/>
                <a:cs typeface="Aptos"/>
              </a:rPr>
              <a:t>Marketplace вырос из “продать карту” в систему экономики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44200" y="4114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r" spAft="0"/>
            <a:r>
              <a:rPr lang="ru-RU" sz="1150" b="1">
                <a:solidFill>
                  <a:srgbClr val="A9B7C6"/>
                </a:solidFill>
                <a:latin typeface="Aptos"/>
                <a:cs typeface="Aptos"/>
              </a:rPr>
              <a:t>07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822960" y="1737360"/>
            <a:ext cx="7680960" cy="3611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Листинги, комиссии, min/max price, история владения и snapshot карточки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Жалобы пользователей и точечные санкции по сделкам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Антимодерация “перелива” между парами пользователей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Перезаключение контрактов при покупке: timesRenewed, limits, discount, watch filters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UI синхронизирован в TMA и admin, экономика объясняется через /help и release notes</a:t>
            </a:r>
          </a:p>
        </p:txBody>
      </p:sp>
      <p:sp>
        <p:nvSpPr>
          <p:cNvPr id="9" name="Callout stripe"/>
          <p:cNvSpPr/>
          <p:nvPr/>
        </p:nvSpPr>
        <p:spPr>
          <a:xfrm>
            <a:off x="9006840" y="1737360"/>
            <a:ext cx="109728" cy="34747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llout bg"/>
          <p:cNvSpPr/>
          <p:nvPr/>
        </p:nvSpPr>
        <p:spPr>
          <a:xfrm>
            <a:off x="9189720" y="1737360"/>
            <a:ext cx="1508760" cy="3474720"/>
          </a:xfrm>
          <a:prstGeom prst="roundRect">
            <a:avLst/>
          </a:prstGeom>
          <a:solidFill>
            <a:srgbClr val="1B2D3A"/>
          </a:solidFill>
          <a:ln w="12000">
            <a:solidFill>
              <a:srgbClr val="2C4053"/>
            </a:solidFill>
          </a:ln>
        </p:spPr>
        <p:txBody>
          <a:bodyPr/>
          <a:lstStyle/>
          <a:p/>
        </p:txBody>
      </p:sp>
      <p:sp>
        <p:nvSpPr>
          <p:cNvPr id="11" name="Callout text"/>
          <p:cNvSpPr txBox="1"/>
          <p:nvPr/>
        </p:nvSpPr>
        <p:spPr>
          <a:xfrm>
            <a:off x="9326880" y="1965960"/>
            <a:ext cx="123444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80" b="1">
                <a:solidFill>
                  <a:srgbClr val="F4F7FA"/>
                </a:solidFill>
                <a:latin typeface="Aptos"/>
                <a:cs typeface="Aptos"/>
              </a:rPr>
              <a:t>AI ускорил механику, но ограничения экономики и модерации остались человеческим решением.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 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wash"/>
          <p:cNvSpPr/>
          <p:nvPr/>
        </p:nvSpPr>
        <p:spPr>
          <a:xfrm>
            <a:off x="10287000" y="0"/>
            <a:ext cx="1920240" cy="6858000"/>
          </a:xfrm>
          <a:prstGeom prst="rect">
            <a:avLst/>
          </a:prstGeom>
          <a:solidFill>
            <a:srgbClr val="14222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Kicker"/>
          <p:cNvSpPr txBox="1"/>
          <p:nvPr/>
        </p:nvSpPr>
        <p:spPr>
          <a:xfrm>
            <a:off x="594360" y="34747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50" b="1">
                <a:solidFill>
                  <a:srgbClr val="3DDC97"/>
                </a:solidFill>
                <a:latin typeface="Aptos"/>
                <a:cs typeface="Aptos"/>
              </a:rPr>
              <a:t>ПРИМЕР 2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94360" y="685800"/>
            <a:ext cx="9372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2950" b="1">
                <a:solidFill>
                  <a:srgbClr val="F4F7FA"/>
                </a:solidFill>
                <a:latin typeface="Aptos"/>
                <a:cs typeface="Aptos"/>
              </a:rPr>
              <a:t>Achievements: важнее guardrails, чем “ещё одна фича”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44200" y="4114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r" spAft="0"/>
            <a:r>
              <a:rPr lang="ru-RU" sz="1150" b="1">
                <a:solidFill>
                  <a:srgbClr val="A9B7C6"/>
                </a:solidFill>
                <a:latin typeface="Aptos"/>
                <a:cs typeface="Aptos"/>
              </a:rPr>
              <a:t>08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822960" y="1737360"/>
            <a:ext cx="7680960" cy="3611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42 seed-достижения: участие, бюджетная лига, результаты, коллекция, marketplace, social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Claim-based награды: фантики, косметика, card choice roll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Запрещены награды, влияющие на силу карт, uses, скоринг или правила лиг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Production dry-run показал риск retroactive payout: 343 695₣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Итоговое решение V1: launch baseline с 0₣ instant payout</a:t>
            </a:r>
          </a:p>
        </p:txBody>
      </p:sp>
      <p:sp>
        <p:nvSpPr>
          <p:cNvPr id="9" name="Callout stripe"/>
          <p:cNvSpPr/>
          <p:nvPr/>
        </p:nvSpPr>
        <p:spPr>
          <a:xfrm>
            <a:off x="9006840" y="1737360"/>
            <a:ext cx="109728" cy="34747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llout bg"/>
          <p:cNvSpPr/>
          <p:nvPr/>
        </p:nvSpPr>
        <p:spPr>
          <a:xfrm>
            <a:off x="9189720" y="1737360"/>
            <a:ext cx="1508760" cy="3474720"/>
          </a:xfrm>
          <a:prstGeom prst="roundRect">
            <a:avLst/>
          </a:prstGeom>
          <a:solidFill>
            <a:srgbClr val="1B2D3A"/>
          </a:solidFill>
          <a:ln w="12000">
            <a:solidFill>
              <a:srgbClr val="2C4053"/>
            </a:solidFill>
          </a:ln>
        </p:spPr>
        <p:txBody>
          <a:bodyPr/>
          <a:lstStyle/>
          <a:p/>
        </p:txBody>
      </p:sp>
      <p:sp>
        <p:nvSpPr>
          <p:cNvPr id="11" name="Callout text"/>
          <p:cNvSpPr txBox="1"/>
          <p:nvPr/>
        </p:nvSpPr>
        <p:spPr>
          <a:xfrm>
            <a:off x="9326880" y="1965960"/>
            <a:ext cx="123444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80" b="1">
                <a:solidFill>
                  <a:srgbClr val="F4F7FA"/>
                </a:solidFill>
                <a:latin typeface="Aptos"/>
                <a:cs typeface="Aptos"/>
              </a:rPr>
              <a:t>AI может быстро реализовать начисления. Но именно поэтому нужны экономические стоп-кран и dry-run.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 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wash"/>
          <p:cNvSpPr/>
          <p:nvPr/>
        </p:nvSpPr>
        <p:spPr>
          <a:xfrm>
            <a:off x="10287000" y="0"/>
            <a:ext cx="1920240" cy="6858000"/>
          </a:xfrm>
          <a:prstGeom prst="rect">
            <a:avLst/>
          </a:prstGeom>
          <a:solidFill>
            <a:srgbClr val="14222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Kicker"/>
          <p:cNvSpPr txBox="1"/>
          <p:nvPr/>
        </p:nvSpPr>
        <p:spPr>
          <a:xfrm>
            <a:off x="594360" y="34747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50" b="1">
                <a:solidFill>
                  <a:srgbClr val="3DDC97"/>
                </a:solidFill>
                <a:latin typeface="Aptos"/>
                <a:cs typeface="Aptos"/>
              </a:rPr>
              <a:t>PRODUCTION INSIGHTS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94360" y="685800"/>
            <a:ext cx="9372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2950" b="1">
                <a:solidFill>
                  <a:srgbClr val="F4F7FA"/>
                </a:solidFill>
                <a:latin typeface="Aptos"/>
                <a:cs typeface="Aptos"/>
              </a:rPr>
              <a:t>Реальная эксплуатация меняет продуктовые дефолты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44200" y="4114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r" spAft="0"/>
            <a:r>
              <a:rPr lang="ru-RU" sz="1150" b="1">
                <a:solidFill>
                  <a:srgbClr val="A9B7C6"/>
                </a:solidFill>
                <a:latin typeface="Aptos"/>
                <a:cs typeface="Aptos"/>
              </a:rPr>
              <a:t>09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822960" y="1737360"/>
            <a:ext cx="7680960" cy="3611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Серии часто создаются в день игр: нужен быстрый same-day admin workflow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Дедлайн команды может быть коротким: TMA CTA важнее долгого pre-launch сценария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Sync может дать пустой результат не из-за бага, а из-за timing или фильтров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Polemica API имеет quirks: mmr object/number, candidate: 0, nullable referee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Pack default на проде стабилен: 3 COMMON, 2 RARE, 1 EPIC + free opens</a:t>
            </a:r>
          </a:p>
        </p:txBody>
      </p:sp>
      <p:sp>
        <p:nvSpPr>
          <p:cNvPr id="9" name="Callout stripe"/>
          <p:cNvSpPr/>
          <p:nvPr/>
        </p:nvSpPr>
        <p:spPr>
          <a:xfrm>
            <a:off x="9006840" y="1737360"/>
            <a:ext cx="109728" cy="34747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llout bg"/>
          <p:cNvSpPr/>
          <p:nvPr/>
        </p:nvSpPr>
        <p:spPr>
          <a:xfrm>
            <a:off x="9189720" y="1737360"/>
            <a:ext cx="1508760" cy="3474720"/>
          </a:xfrm>
          <a:prstGeom prst="roundRect">
            <a:avLst/>
          </a:prstGeom>
          <a:solidFill>
            <a:srgbClr val="1B2D3A"/>
          </a:solidFill>
          <a:ln w="12000">
            <a:solidFill>
              <a:srgbClr val="2C4053"/>
            </a:solidFill>
          </a:ln>
        </p:spPr>
        <p:txBody>
          <a:bodyPr/>
          <a:lstStyle/>
          <a:p/>
        </p:txBody>
      </p:sp>
      <p:sp>
        <p:nvSpPr>
          <p:cNvPr id="11" name="Callout text"/>
          <p:cNvSpPr txBox="1"/>
          <p:nvPr/>
        </p:nvSpPr>
        <p:spPr>
          <a:xfrm>
            <a:off x="9326880" y="1965960"/>
            <a:ext cx="123444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80" b="1">
                <a:solidFill>
                  <a:srgbClr val="F4F7FA"/>
                </a:solidFill>
                <a:latin typeface="Aptos"/>
                <a:cs typeface="Aptos"/>
              </a:rPr>
              <a:t>OperationalInsights.md — способ превращать наблюдения из продакшена в будущие продуктовые решения.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 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wash"/>
          <p:cNvSpPr/>
          <p:nvPr/>
        </p:nvSpPr>
        <p:spPr>
          <a:xfrm>
            <a:off x="10287000" y="0"/>
            <a:ext cx="1920240" cy="6858000"/>
          </a:xfrm>
          <a:prstGeom prst="rect">
            <a:avLst/>
          </a:prstGeom>
          <a:solidFill>
            <a:srgbClr val="14222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Kicker"/>
          <p:cNvSpPr txBox="1"/>
          <p:nvPr/>
        </p:nvSpPr>
        <p:spPr>
          <a:xfrm>
            <a:off x="594360" y="34747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50" b="1">
                <a:solidFill>
                  <a:srgbClr val="3DDC97"/>
                </a:solidFill>
                <a:latin typeface="Aptos"/>
                <a:cs typeface="Aptos"/>
              </a:rPr>
              <a:t>КАЧЕСТВО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94360" y="685800"/>
            <a:ext cx="9372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2950" b="1">
                <a:solidFill>
                  <a:srgbClr val="F4F7FA"/>
                </a:solidFill>
                <a:latin typeface="Aptos"/>
                <a:cs typeface="Aptos"/>
              </a:rPr>
              <a:t>Страховочные механизмы для AI-разработки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44200" y="4114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r" spAft="0"/>
            <a:r>
              <a:rPr lang="ru-RU" sz="1150" b="1">
                <a:solidFill>
                  <a:srgbClr val="A9B7C6"/>
                </a:solidFill>
                <a:latin typeface="Aptos"/>
                <a:cs typeface="Aptos"/>
              </a:rPr>
              <a:t>10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822960" y="1737360"/>
            <a:ext cx="7680960" cy="3611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./scripts/codex-check.sh quick: backend compile + оба frontend build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Focused backend tests для рискованных сервисов и API сценариев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Browser smoke для локального TMA/admin, когда меняется UI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Read-only skill для production DB: диагностика без write-риска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Сетевые вызовы Polemica вне длинных транзакций; события Telegram после commit</a:t>
            </a:r>
          </a:p>
        </p:txBody>
      </p:sp>
      <p:sp>
        <p:nvSpPr>
          <p:cNvPr id="9" name="Callout stripe"/>
          <p:cNvSpPr/>
          <p:nvPr/>
        </p:nvSpPr>
        <p:spPr>
          <a:xfrm>
            <a:off x="9006840" y="1737360"/>
            <a:ext cx="109728" cy="34747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llout bg"/>
          <p:cNvSpPr/>
          <p:nvPr/>
        </p:nvSpPr>
        <p:spPr>
          <a:xfrm>
            <a:off x="9189720" y="1737360"/>
            <a:ext cx="1508760" cy="3474720"/>
          </a:xfrm>
          <a:prstGeom prst="roundRect">
            <a:avLst/>
          </a:prstGeom>
          <a:solidFill>
            <a:srgbClr val="1B2D3A"/>
          </a:solidFill>
          <a:ln w="12000">
            <a:solidFill>
              <a:srgbClr val="2C4053"/>
            </a:solidFill>
          </a:ln>
        </p:spPr>
        <p:txBody>
          <a:bodyPr/>
          <a:lstStyle/>
          <a:p/>
        </p:txBody>
      </p:sp>
      <p:sp>
        <p:nvSpPr>
          <p:cNvPr id="11" name="Callout text"/>
          <p:cNvSpPr txBox="1"/>
          <p:nvPr/>
        </p:nvSpPr>
        <p:spPr>
          <a:xfrm>
            <a:off x="9326880" y="1965960"/>
            <a:ext cx="123444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80" b="1">
                <a:solidFill>
                  <a:srgbClr val="F4F7FA"/>
                </a:solidFill>
                <a:latin typeface="Aptos"/>
                <a:cs typeface="Aptos"/>
              </a:rPr>
              <a:t>AI-native проект должен быть легко проверяемым. Иначе скорость превращается в источник риска.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 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wash"/>
          <p:cNvSpPr/>
          <p:nvPr/>
        </p:nvSpPr>
        <p:spPr>
          <a:xfrm>
            <a:off x="10287000" y="0"/>
            <a:ext cx="1920240" cy="6858000"/>
          </a:xfrm>
          <a:prstGeom prst="rect">
            <a:avLst/>
          </a:prstGeom>
          <a:solidFill>
            <a:srgbClr val="14222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Kicker"/>
          <p:cNvSpPr txBox="1"/>
          <p:nvPr/>
        </p:nvSpPr>
        <p:spPr>
          <a:xfrm>
            <a:off x="594360" y="34747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50" b="1">
                <a:solidFill>
                  <a:srgbClr val="3DDC97"/>
                </a:solidFill>
                <a:latin typeface="Aptos"/>
                <a:cs typeface="Aptos"/>
              </a:rPr>
              <a:t>УРОКИ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94360" y="685800"/>
            <a:ext cx="9372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2950" b="1">
                <a:solidFill>
                  <a:srgbClr val="F4F7FA"/>
                </a:solidFill>
                <a:latin typeface="Aptos"/>
                <a:cs typeface="Aptos"/>
              </a:rPr>
              <a:t>Что AI делает хорошо, а что должен держать человек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44200" y="4114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r" spAft="0"/>
            <a:r>
              <a:rPr lang="ru-RU" sz="1150" b="1">
                <a:solidFill>
                  <a:srgbClr val="A9B7C6"/>
                </a:solidFill>
                <a:latin typeface="Aptos"/>
                <a:cs typeface="Aptos"/>
              </a:rPr>
              <a:t>11</a:t>
            </a:r>
          </a:p>
        </p:txBody>
      </p:sp>
      <p:sp>
        <p:nvSpPr>
          <p:cNvPr id="8" name="Column 0"/>
          <p:cNvSpPr/>
          <p:nvPr/>
        </p:nvSpPr>
        <p:spPr>
          <a:xfrm>
            <a:off x="749808" y="1828800"/>
            <a:ext cx="4572000" cy="3337560"/>
          </a:xfrm>
          <a:prstGeom prst="roundRect">
            <a:avLst/>
          </a:prstGeom>
          <a:solidFill>
            <a:srgbClr val="172533"/>
          </a:solidFill>
          <a:ln w="14000">
            <a:solidFill>
              <a:srgbClr val="3DDC97"/>
            </a:solidFill>
          </a:ln>
        </p:spPr>
        <p:txBody>
          <a:bodyPr/>
          <a:lstStyle/>
          <a:p/>
        </p:txBody>
      </p:sp>
      <p:sp>
        <p:nvSpPr>
          <p:cNvPr id="9" name="Column text 0"/>
          <p:cNvSpPr txBox="1"/>
          <p:nvPr/>
        </p:nvSpPr>
        <p:spPr>
          <a:xfrm>
            <a:off x="1005840" y="2057400"/>
            <a:ext cx="406908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600"/>
            <a:r>
              <a:rPr lang="ru-RU" sz="1800" b="1">
                <a:solidFill>
                  <a:srgbClr val="3DDC97"/>
                </a:solidFill>
                <a:latin typeface="Aptos"/>
                <a:cs typeface="Aptos"/>
              </a:rPr>
              <a:t>AI хорошо делает</a:t>
            </a:r>
          </a:p>
          <a:p>
            <a:pPr marL="342900" indent="-171450" spAft="330">
              <a:buChar char="•"/>
            </a:pPr>
            <a:r>
              <a:rPr lang="ru-RU" sz="1350">
                <a:solidFill>
                  <a:srgbClr val="F4F7FA"/>
                </a:solidFill>
                <a:latin typeface="Aptos"/>
                <a:cs typeface="Aptos"/>
              </a:rPr>
              <a:t>full-stack propagation</a:t>
            </a:r>
          </a:p>
          <a:p>
            <a:pPr marL="342900" indent="-171450" spAft="330">
              <a:buChar char="•"/>
            </a:pPr>
            <a:r>
              <a:rPr lang="ru-RU" sz="1350">
                <a:solidFill>
                  <a:srgbClr val="F4F7FA"/>
                </a:solidFill>
                <a:latin typeface="Aptos"/>
                <a:cs typeface="Aptos"/>
              </a:rPr>
              <a:t>migration + DTO + UI consistency</a:t>
            </a:r>
          </a:p>
          <a:p>
            <a:pPr marL="342900" indent="-171450" spAft="330">
              <a:buChar char="•"/>
            </a:pPr>
            <a:r>
              <a:rPr lang="ru-RU" sz="1350">
                <a:solidFill>
                  <a:srgbClr val="F4F7FA"/>
                </a:solidFill>
                <a:latin typeface="Aptos"/>
                <a:cs typeface="Aptos"/>
              </a:rPr>
              <a:t>targeted tests and fixes</a:t>
            </a:r>
          </a:p>
          <a:p>
            <a:pPr marL="342900" indent="-171450" spAft="330">
              <a:buChar char="•"/>
            </a:pPr>
            <a:r>
              <a:rPr lang="ru-RU" sz="1350">
                <a:solidFill>
                  <a:srgbClr val="F4F7FA"/>
                </a:solidFill>
                <a:latin typeface="Aptos"/>
                <a:cs typeface="Aptos"/>
              </a:rPr>
              <a:t>documentation updates</a:t>
            </a:r>
          </a:p>
          <a:p>
            <a:pPr marL="342900" indent="-171450" spAft="330">
              <a:buChar char="•"/>
            </a:pPr>
            <a:r>
              <a:rPr lang="ru-RU" sz="1350">
                <a:solidFill>
                  <a:srgbClr val="F4F7FA"/>
                </a:solidFill>
                <a:latin typeface="Aptos"/>
                <a:cs typeface="Aptos"/>
              </a:rPr>
              <a:t>fast iteration on edge cases</a:t>
            </a:r>
          </a:p>
        </p:txBody>
      </p:sp>
      <p:sp>
        <p:nvSpPr>
          <p:cNvPr id="10" name="Column 1"/>
          <p:cNvSpPr/>
          <p:nvPr/>
        </p:nvSpPr>
        <p:spPr>
          <a:xfrm>
            <a:off x="6007608" y="1828800"/>
            <a:ext cx="4572000" cy="3337560"/>
          </a:xfrm>
          <a:prstGeom prst="roundRect">
            <a:avLst/>
          </a:prstGeom>
          <a:solidFill>
            <a:srgbClr val="172533"/>
          </a:solidFill>
          <a:ln w="14000">
            <a:solidFill>
              <a:srgbClr val="FFB86C"/>
            </a:solidFill>
          </a:ln>
        </p:spPr>
        <p:txBody>
          <a:bodyPr/>
          <a:lstStyle/>
          <a:p/>
        </p:txBody>
      </p:sp>
      <p:sp>
        <p:nvSpPr>
          <p:cNvPr id="11" name="Column text 1"/>
          <p:cNvSpPr txBox="1"/>
          <p:nvPr/>
        </p:nvSpPr>
        <p:spPr>
          <a:xfrm>
            <a:off x="6263640" y="2057400"/>
            <a:ext cx="406908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600"/>
            <a:r>
              <a:rPr lang="ru-RU" sz="1800" b="1">
                <a:solidFill>
                  <a:srgbClr val="FFB86C"/>
                </a:solidFill>
                <a:latin typeface="Aptos"/>
                <a:cs typeface="Aptos"/>
              </a:rPr>
              <a:t>Человек держит</a:t>
            </a:r>
          </a:p>
          <a:p>
            <a:pPr marL="342900" indent="-171450" spAft="330">
              <a:buChar char="•"/>
            </a:pPr>
            <a:r>
              <a:rPr lang="ru-RU" sz="1350">
                <a:solidFill>
                  <a:srgbClr val="F4F7FA"/>
                </a:solidFill>
                <a:latin typeface="Aptos"/>
                <a:cs typeface="Aptos"/>
              </a:rPr>
              <a:t>product judgment</a:t>
            </a:r>
          </a:p>
          <a:p>
            <a:pPr marL="342900" indent="-171450" spAft="330">
              <a:buChar char="•"/>
            </a:pPr>
            <a:r>
              <a:rPr lang="ru-RU" sz="1350">
                <a:solidFill>
                  <a:srgbClr val="F4F7FA"/>
                </a:solidFill>
                <a:latin typeface="Aptos"/>
                <a:cs typeface="Aptos"/>
              </a:rPr>
              <a:t>economy and abuse risk</a:t>
            </a:r>
          </a:p>
          <a:p>
            <a:pPr marL="342900" indent="-171450" spAft="330">
              <a:buChar char="•"/>
            </a:pPr>
            <a:r>
              <a:rPr lang="ru-RU" sz="1350">
                <a:solidFill>
                  <a:srgbClr val="F4F7FA"/>
                </a:solidFill>
                <a:latin typeface="Aptos"/>
                <a:cs typeface="Aptos"/>
              </a:rPr>
              <a:t>domain language</a:t>
            </a:r>
          </a:p>
          <a:p>
            <a:pPr marL="342900" indent="-171450" spAft="330">
              <a:buChar char="•"/>
            </a:pPr>
            <a:r>
              <a:rPr lang="ru-RU" sz="1350">
                <a:solidFill>
                  <a:srgbClr val="F4F7FA"/>
                </a:solidFill>
                <a:latin typeface="Aptos"/>
                <a:cs typeface="Aptos"/>
              </a:rPr>
              <a:t>release timing</a:t>
            </a:r>
          </a:p>
          <a:p>
            <a:pPr marL="342900" indent="-171450" spAft="330">
              <a:buChar char="•"/>
            </a:pPr>
            <a:r>
              <a:rPr lang="ru-RU" sz="1350">
                <a:solidFill>
                  <a:srgbClr val="F4F7FA"/>
                </a:solidFill>
                <a:latin typeface="Aptos"/>
                <a:cs typeface="Aptos"/>
              </a:rPr>
              <a:t>what not to automate</a:t>
            </a:r>
          </a:p>
        </p:txBody>
      </p:sp>
      <p:sp>
        <p:nvSpPr>
          <p:cNvPr id="12" name="Callout bg"/>
          <p:cNvSpPr/>
          <p:nvPr/>
        </p:nvSpPr>
        <p:spPr>
          <a:xfrm>
            <a:off x="749808" y="5440680"/>
            <a:ext cx="9829800" cy="475488"/>
          </a:xfrm>
          <a:prstGeom prst="roundRect">
            <a:avLst/>
          </a:prstGeom>
          <a:solidFill>
            <a:srgbClr val="1D3140"/>
          </a:solidFill>
          <a:ln w="12000">
            <a:solidFill>
              <a:srgbClr val="3DDC97"/>
            </a:solidFill>
          </a:ln>
        </p:spPr>
        <p:txBody>
          <a:bodyPr/>
          <a:lstStyle/>
          <a:p/>
        </p:txBody>
      </p:sp>
      <p:sp>
        <p:nvSpPr>
          <p:cNvPr id="13" name="Callout text"/>
          <p:cNvSpPr txBox="1"/>
          <p:nvPr/>
        </p:nvSpPr>
        <p:spPr>
          <a:xfrm>
            <a:off x="932688" y="5550408"/>
            <a:ext cx="9418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200">
                <a:solidFill>
                  <a:srgbClr val="F4F7FA"/>
                </a:solidFill>
                <a:latin typeface="Aptos"/>
                <a:cs typeface="Aptos"/>
              </a:rPr>
              <a:t>Лучший результат получается, когда AI — сильный исполнитель в системе с ясными человеческими решениями.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 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wash"/>
          <p:cNvSpPr/>
          <p:nvPr/>
        </p:nvSpPr>
        <p:spPr>
          <a:xfrm>
            <a:off x="10287000" y="0"/>
            <a:ext cx="1920240" cy="6858000"/>
          </a:xfrm>
          <a:prstGeom prst="rect">
            <a:avLst/>
          </a:prstGeom>
          <a:solidFill>
            <a:srgbClr val="14222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Kicker"/>
          <p:cNvSpPr txBox="1"/>
          <p:nvPr/>
        </p:nvSpPr>
        <p:spPr>
          <a:xfrm>
            <a:off x="594360" y="34747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50" b="1">
                <a:solidFill>
                  <a:srgbClr val="3DDC97"/>
                </a:solidFill>
                <a:latin typeface="Aptos"/>
                <a:cs typeface="Aptos"/>
              </a:rPr>
              <a:t>PLAYBOOK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94360" y="685800"/>
            <a:ext cx="9372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2950" b="1">
                <a:solidFill>
                  <a:srgbClr val="F4F7FA"/>
                </a:solidFill>
                <a:latin typeface="Aptos"/>
                <a:cs typeface="Aptos"/>
              </a:rPr>
              <a:t>Практические правила AI-native проекта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44200" y="4114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r" spAft="0"/>
            <a:r>
              <a:rPr lang="ru-RU" sz="1150" b="1">
                <a:solidFill>
                  <a:srgbClr val="A9B7C6"/>
                </a:solidFill>
                <a:latin typeface="Aptos"/>
                <a:cs typeface="Aptos"/>
              </a:rPr>
              <a:t>12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822960" y="1737360"/>
            <a:ext cx="7680960" cy="3611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Пишите AGENTS.md как инженерный контракт, а не как список пожеланий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Ведите memory bank: решения, прогресс, паттерны, эксплуатационные наблюдения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Фиксируйте глоссарий домена до того, как AI начнёт путать сущности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Делайте быстрый cross-module check обязательным handoff-барьером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Для крупных фич начинайте со spec-first discovery, а не с кода</a:t>
            </a:r>
          </a:p>
          <a:p>
            <a:pPr marL="342900" indent="-171450" spAft="500">
              <a:buChar char="•"/>
            </a:pPr>
            <a:r>
              <a:rPr lang="ru-RU" sz="1650">
                <a:solidFill>
                  <a:srgbClr val="F4F7FA"/>
                </a:solidFill>
                <a:latin typeface="Aptos"/>
                <a:cs typeface="Aptos"/>
              </a:rPr>
              <a:t>Публично рассказывайте не “AI заменил разработчика”, а “контекст сделал AI полезным”</a:t>
            </a:r>
          </a:p>
        </p:txBody>
      </p:sp>
      <p:sp>
        <p:nvSpPr>
          <p:cNvPr id="9" name="Callout stripe"/>
          <p:cNvSpPr/>
          <p:nvPr/>
        </p:nvSpPr>
        <p:spPr>
          <a:xfrm>
            <a:off x="9006840" y="1737360"/>
            <a:ext cx="109728" cy="34747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llout bg"/>
          <p:cNvSpPr/>
          <p:nvPr/>
        </p:nvSpPr>
        <p:spPr>
          <a:xfrm>
            <a:off x="9189720" y="1737360"/>
            <a:ext cx="1508760" cy="3474720"/>
          </a:xfrm>
          <a:prstGeom prst="roundRect">
            <a:avLst/>
          </a:prstGeom>
          <a:solidFill>
            <a:srgbClr val="1B2D3A"/>
          </a:solidFill>
          <a:ln w="12000">
            <a:solidFill>
              <a:srgbClr val="2C4053"/>
            </a:solidFill>
          </a:ln>
        </p:spPr>
        <p:txBody>
          <a:bodyPr/>
          <a:lstStyle/>
          <a:p/>
        </p:txBody>
      </p:sp>
      <p:sp>
        <p:nvSpPr>
          <p:cNvPr id="11" name="Callout text"/>
          <p:cNvSpPr txBox="1"/>
          <p:nvPr/>
        </p:nvSpPr>
        <p:spPr>
          <a:xfrm>
            <a:off x="9326880" y="1965960"/>
            <a:ext cx="123444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spAft="0"/>
            <a:r>
              <a:rPr lang="ru-RU" sz="1180" b="1">
                <a:solidFill>
                  <a:srgbClr val="F4F7FA"/>
                </a:solidFill>
                <a:latin typeface="Aptos"/>
                <a:cs typeface="Aptos"/>
              </a:rPr>
              <a:t>Итог: AI-native — это инженерная дисциплина вокруг контекста, проверок и продуктовой ответственности.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emica AI Native">
  <a:themeElements>
    <a:clrScheme name="Polemica">
      <a:dk1>
        <a:srgbClr val="101820"/>
      </a:dk1>
      <a:lt1>
        <a:srgbClr val="F4F7FA"/>
      </a:lt1>
      <a:dk2>
        <a:srgbClr val="14222E"/>
      </a:dk2>
      <a:lt2>
        <a:srgbClr val="A9B7C6"/>
      </a:lt2>
      <a:accent1>
        <a:srgbClr val="3DDC97"/>
      </a:accent1>
      <a:accent2>
        <a:srgbClr val="6EE7F9"/>
      </a:accent2>
      <a:accent3>
        <a:srgbClr val="FFB86C"/>
      </a:accent3>
      <a:accent4>
        <a:srgbClr val="FF6B6B"/>
      </a:accent4>
      <a:accent5>
        <a:srgbClr val="2C4053"/>
      </a:accent5>
      <a:accent6>
        <a:srgbClr val="FFFFFF"/>
      </a:accent6>
      <a:hlink>
        <a:srgbClr val="6EE7F9"/>
      </a:hlink>
      <a:folHlink>
        <a:srgbClr val="3DDC97"/>
      </a:folHlink>
    </a:clrScheme>
    <a:fontScheme name="Aptos">
      <a:majorFont>
        <a:latin typeface="Aptos Display"/>
        <a:cs typeface="Aptos"/>
      </a:majorFont>
      <a:minorFont>
        <a:latin typeface="Aptos"/>
        <a:cs typeface="Aptos"/>
      </a:minorFont>
    </a:fontScheme>
    <a:fmtScheme name="Polemica">
      <a:fillStyleLst>
        <a:solidFill>
          <a:schemeClr val="accent1"/>
        </a:solidFill>
      </a:fillStyleLst>
      <a:lnStyleLst>
        <a:ln w="10000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OpenXML generator</Application>
  <PresentationFormat>On-screen Show (16:9)</PresentationFormat>
  <Slides>12</Slides>
  <Notes>0</Notes>
  <HiddenSlides>0</HiddenSlides>
  <Company>Polemica Fantasy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AI-native разработка живого продукта</dc:title>
  <dc:creator>Codex</dc:creator>
  <cp:lastModifiedBy>Codex</cp:lastModifiedBy>
  <dcterms:created xsi:type="dcterms:W3CDTF">2026-06-03T13:49:16Z</dcterms:created>
  <dcterms:modified xsi:type="dcterms:W3CDTF">2026-06-03T13:49:16Z</dcterms:modified>
</cp:coreProperties>
</file>