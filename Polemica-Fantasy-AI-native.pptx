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7909560" y="0"/>
            <a:ext cx="4297680" cy="6858000"/>
          </a:xfrm>
          <a:prstGeom prst="rect">
            <a:avLst/>
          </a:prstGeom>
          <a:solidFill>
            <a:srgbClr val="1631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8458200" y="713232"/>
            <a:ext cx="3017520" cy="5394960"/>
          </a:xfrm>
          <a:prstGeom prst="roundRect">
            <a:avLst/>
          </a:prstGeom>
          <a:solidFill>
            <a:srgbClr val="213B4A"/>
          </a:solidFill>
          <a:ln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713232" y="1234440"/>
            <a:ext cx="6583680" cy="1051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4800" dirty="0" b="1">
                <a:solidFill>
                  <a:srgbClr val="FFFFFF"/>
                </a:solidFill>
                <a:latin typeface="Aptos"/>
                <a:cs typeface="Aptos"/>
              </a:rPr>
              <a:t>Polemica Fantasy</a:t>
            </a:r>
            <a:endParaRPr lang="ru-RU" sz="4800" dirty="0"/>
          </a:p>
        </p:txBody>
      </p:sp>
      <p:sp>
        <p:nvSpPr>
          <p:cNvPr id="6" name="Text 6"/>
          <p:cNvSpPr txBox="1"/>
          <p:nvPr/>
        </p:nvSpPr>
        <p:spPr>
          <a:xfrm>
            <a:off x="768096" y="2487168"/>
            <a:ext cx="6217920" cy="51206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300" dirty="0" b="1">
                <a:solidFill>
                  <a:srgbClr val="46E8A8"/>
                </a:solidFill>
                <a:latin typeface="Aptos"/>
                <a:cs typeface="Aptos"/>
              </a:rPr>
              <a:t>AI-native продукт, который живет в продакшене</a:t>
            </a:r>
            <a:endParaRPr lang="ru-RU" sz="2300" dirty="0"/>
          </a:p>
        </p:txBody>
      </p:sp>
      <p:sp>
        <p:nvSpPr>
          <p:cNvPr id="7" name="Text 7"/>
          <p:cNvSpPr txBox="1"/>
          <p:nvPr/>
        </p:nvSpPr>
        <p:spPr>
          <a:xfrm>
            <a:off x="786384" y="3355848"/>
            <a:ext cx="566928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900" dirty="0">
                <a:solidFill>
                  <a:srgbClr val="C9D4DF"/>
                </a:solidFill>
                <a:latin typeface="Aptos"/>
                <a:cs typeface="Aptos"/>
              </a:rPr>
              <a:t>Не история про магию генерации кода. История про контекст, память, инварианты и быстрые проверки.</a:t>
            </a:r>
            <a:endParaRPr lang="ru-RU" sz="1900" dirty="0"/>
          </a:p>
        </p:txBody>
      </p:sp>
      <p:sp>
        <p:nvSpPr>
          <p:cNvPr id="8" name="Shape 8"/>
          <p:cNvSpPr/>
          <p:nvPr/>
        </p:nvSpPr>
        <p:spPr>
          <a:xfrm>
            <a:off x="786384" y="4709160"/>
            <a:ext cx="1508760" cy="347472"/>
          </a:xfrm>
          <a:prstGeom prst="round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832104" y="476402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/>
          </a:bodyPr>
          <a:lstStyle/>
          <a:p>
            <a:pPr algn="c"/>
            <a:r>
              <a:rPr lang="ru-RU" sz="1000" dirty="0" b="1">
                <a:solidFill>
                  <a:srgbClr val="101820"/>
                </a:solidFill>
                <a:latin typeface="Aptos"/>
                <a:cs typeface="Aptos"/>
              </a:rPr>
              <a:t>engineering talk</a:t>
            </a:r>
            <a:endParaRPr lang="ru-RU" sz="1000" dirty="0"/>
          </a:p>
        </p:txBody>
      </p:sp>
      <p:sp>
        <p:nvSpPr>
          <p:cNvPr id="10" name="Shape 10"/>
          <p:cNvSpPr/>
          <p:nvPr/>
        </p:nvSpPr>
        <p:spPr>
          <a:xfrm>
            <a:off x="2432304" y="4709160"/>
            <a:ext cx="1691640" cy="347472"/>
          </a:xfrm>
          <a:prstGeom prst="round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2478024" y="4764024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/>
          </a:bodyPr>
          <a:lstStyle/>
          <a:p>
            <a:pPr algn="c"/>
            <a:r>
              <a:rPr lang="ru-RU" sz="1000" dirty="0" b="1">
                <a:solidFill>
                  <a:srgbClr val="101820"/>
                </a:solidFill>
                <a:latin typeface="Aptos"/>
                <a:cs typeface="Aptos"/>
              </a:rPr>
              <a:t>Telegram Mini App</a:t>
            </a:r>
            <a:endParaRPr lang="ru-RU" sz="1000" dirty="0"/>
          </a:p>
        </p:txBody>
      </p:sp>
      <p:sp>
        <p:nvSpPr>
          <p:cNvPr id="12" name="Shape 12"/>
          <p:cNvSpPr/>
          <p:nvPr/>
        </p:nvSpPr>
        <p:spPr>
          <a:xfrm>
            <a:off x="4297680" y="4709160"/>
            <a:ext cx="1417320" cy="347472"/>
          </a:xfrm>
          <a:prstGeom prst="round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343400" y="4764024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rmAutofit/>
          </a:bodyPr>
          <a:lstStyle/>
          <a:p>
            <a:pPr algn="c"/>
            <a:r>
              <a:rPr lang="ru-RU" sz="1000" dirty="0" b="1">
                <a:solidFill>
                  <a:srgbClr val="101820"/>
                </a:solidFill>
                <a:latin typeface="Aptos"/>
                <a:cs typeface="Aptos"/>
              </a:rPr>
              <a:t>Kotlin + React</a:t>
            </a:r>
            <a:endParaRPr lang="ru-RU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8823960" y="1261872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FFFFFF"/>
                </a:solidFill>
                <a:latin typeface="Aptos"/>
                <a:cs typeface="Aptos"/>
              </a:rPr>
              <a:t>TMA</a:t>
            </a:r>
            <a:endParaRPr lang="ru-RU" sz="2400" dirty="0"/>
          </a:p>
        </p:txBody>
      </p:sp>
      <p:sp>
        <p:nvSpPr>
          <p:cNvPr id="15" name="Text 15"/>
          <p:cNvSpPr txBox="1"/>
          <p:nvPr/>
        </p:nvSpPr>
        <p:spPr>
          <a:xfrm>
            <a:off x="8759952" y="187452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>
                <a:solidFill>
                  <a:srgbClr val="D7E1EA"/>
                </a:solidFill>
                <a:latin typeface="Aptos"/>
                <a:cs typeface="Aptos"/>
              </a:rPr>
              <a:t>карты • серии • лиги • фантики</a:t>
            </a:r>
            <a:endParaRPr lang="ru-RU" sz="1600" dirty="0"/>
          </a:p>
        </p:txBody>
      </p:sp>
      <p:sp>
        <p:nvSpPr>
          <p:cNvPr id="16" name="Text 16"/>
          <p:cNvSpPr txBox="1"/>
          <p:nvPr/>
        </p:nvSpPr>
        <p:spPr>
          <a:xfrm>
            <a:off x="8659368" y="3246120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46E8A8"/>
                </a:solidFill>
                <a:latin typeface="Aptos"/>
                <a:cs typeface="Aptos"/>
              </a:rPr>
              <a:t>AI как инженерный участник процесса</a:t>
            </a:r>
            <a:endParaRPr lang="ru-RU" sz="1800" dirty="0"/>
          </a:p>
        </p:txBody>
      </p:sp>
      <p:sp>
        <p:nvSpPr>
          <p:cNvPr id="17" name="Text 17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1/12</a:t>
            </a:r>
            <a:endParaRPr lang="ru-RU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О чем этот рассказ</a:t>
            </a:r>
            <a:endParaRPr lang="ru-RU" sz="2900" dirty="0"/>
          </a:p>
        </p:txBody>
      </p:sp>
      <p:sp>
        <p:nvSpPr>
          <p:cNvPr id="20" name="Text 20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Фэнтези-сервис для спортивной мафии как кейс AI-native разработки</a:t>
            </a:r>
            <a:endParaRPr lang="ru-RU" sz="1300" dirty="0"/>
          </a:p>
        </p:txBody>
      </p:sp>
      <p:sp>
        <p:nvSpPr>
          <p:cNvPr id="21" name="Shape 21"/>
          <p:cNvSpPr/>
          <p:nvPr/>
        </p:nvSpPr>
        <p:spPr>
          <a:xfrm>
            <a:off x="658368" y="1645920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58368" y="1645920"/>
            <a:ext cx="64008" cy="329184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59536" y="178308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46E8A8"/>
                </a:solidFill>
                <a:latin typeface="Aptos"/>
                <a:cs typeface="Aptos"/>
              </a:rPr>
              <a:t>PRODUCT</a:t>
            </a:r>
            <a:endParaRPr lang="ru-RU" sz="900" dirty="0"/>
          </a:p>
        </p:txBody>
      </p:sp>
      <p:sp>
        <p:nvSpPr>
          <p:cNvPr id="24" name="Text 24"/>
          <p:cNvSpPr txBox="1"/>
          <p:nvPr/>
        </p:nvSpPr>
        <p:spPr>
          <a:xfrm>
            <a:off x="859536" y="2103120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Живой домен</a:t>
            </a:r>
            <a:endParaRPr lang="ru-RU" sz="1700" dirty="0"/>
          </a:p>
        </p:txBody>
      </p:sp>
      <p:sp>
        <p:nvSpPr>
          <p:cNvPr id="25" name="Text 25"/>
          <p:cNvSpPr txBox="1"/>
          <p:nvPr/>
        </p:nvSpPr>
        <p:spPr>
          <a:xfrm>
            <a:off x="859536" y="2578608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Реальные игры Polemica, карточки игроков, серии, лиги, экономика, marketplace и админские операции.</a:t>
            </a:r>
            <a:endParaRPr lang="ru-RU" sz="1200" dirty="0"/>
          </a:p>
        </p:txBody>
      </p:sp>
      <p:sp>
        <p:nvSpPr>
          <p:cNvPr id="26" name="Shape 26"/>
          <p:cNvSpPr/>
          <p:nvPr/>
        </p:nvSpPr>
        <p:spPr>
          <a:xfrm>
            <a:off x="4416552" y="1645920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4416552" y="1645920"/>
            <a:ext cx="64008" cy="329184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4617720" y="178308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7BCBFF"/>
                </a:solidFill>
                <a:latin typeface="Aptos"/>
                <a:cs typeface="Aptos"/>
              </a:rPr>
              <a:t>ENGINEERING</a:t>
            </a:r>
            <a:endParaRPr lang="ru-RU" sz="900" dirty="0"/>
          </a:p>
        </p:txBody>
      </p:sp>
      <p:sp>
        <p:nvSpPr>
          <p:cNvPr id="29" name="Text 29"/>
          <p:cNvSpPr txBox="1"/>
          <p:nvPr/>
        </p:nvSpPr>
        <p:spPr>
          <a:xfrm>
            <a:off x="4617720" y="2103120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Полный стек</a:t>
            </a:r>
            <a:endParaRPr lang="ru-RU" sz="1700" dirty="0"/>
          </a:p>
        </p:txBody>
      </p:sp>
      <p:sp>
        <p:nvSpPr>
          <p:cNvPr id="30" name="Text 30"/>
          <p:cNvSpPr txBox="1"/>
          <p:nvPr/>
        </p:nvSpPr>
        <p:spPr>
          <a:xfrm>
            <a:off x="4617720" y="2578608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Kotlin backend, PostgreSQL/Flyway, две React SPA, Telegram Mini App, внешняя интеграция и production deploy.</a:t>
            </a:r>
            <a:endParaRPr lang="ru-RU" sz="1200" dirty="0"/>
          </a:p>
        </p:txBody>
      </p:sp>
      <p:sp>
        <p:nvSpPr>
          <p:cNvPr id="31" name="Shape 31"/>
          <p:cNvSpPr/>
          <p:nvPr/>
        </p:nvSpPr>
        <p:spPr>
          <a:xfrm>
            <a:off x="8174736" y="1645920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8174736" y="1645920"/>
            <a:ext cx="64008" cy="329184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8375904" y="178308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F7D36B"/>
                </a:solidFill>
                <a:latin typeface="Aptos"/>
                <a:cs typeface="Aptos"/>
              </a:rPr>
              <a:t>AI-NATIVE</a:t>
            </a:r>
            <a:endParaRPr lang="ru-RU" sz="900" dirty="0"/>
          </a:p>
        </p:txBody>
      </p:sp>
      <p:sp>
        <p:nvSpPr>
          <p:cNvPr id="34" name="Text 34"/>
          <p:cNvSpPr txBox="1"/>
          <p:nvPr/>
        </p:nvSpPr>
        <p:spPr>
          <a:xfrm>
            <a:off x="8375904" y="2103120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Система для агента</a:t>
            </a:r>
            <a:endParaRPr lang="ru-RU" sz="1700" dirty="0"/>
          </a:p>
        </p:txBody>
      </p:sp>
      <p:sp>
        <p:nvSpPr>
          <p:cNvPr id="35" name="Text 35"/>
          <p:cNvSpPr txBox="1"/>
          <p:nvPr/>
        </p:nvSpPr>
        <p:spPr>
          <a:xfrm>
            <a:off x="8375904" y="2578608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AGENTS.md, memory-bank, glossary, локальные skills и быстрые проверки превращают AI в повторяемый workflow.</a:t>
            </a:r>
            <a:endParaRPr lang="ru-RU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2/12</a:t>
            </a:r>
            <a:endParaRPr lang="ru-RU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Архитектура продукта</a:t>
            </a:r>
            <a:endParaRPr lang="ru-RU" sz="2900" dirty="0"/>
          </a:p>
        </p:txBody>
      </p:sp>
      <p:sp>
        <p:nvSpPr>
          <p:cNvPr id="39" name="Text 39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Монолитный backend и два разных frontend-опыта</a:t>
            </a:r>
            <a:endParaRPr lang="ru-RU" sz="1300" dirty="0"/>
          </a:p>
        </p:txBody>
      </p:sp>
      <p:sp>
        <p:nvSpPr>
          <p:cNvPr id="40" name="Shape 40"/>
          <p:cNvSpPr/>
          <p:nvPr/>
        </p:nvSpPr>
        <p:spPr>
          <a:xfrm>
            <a:off x="749808" y="1874520"/>
            <a:ext cx="2560320" cy="914400"/>
          </a:xfrm>
          <a:prstGeom prst="roundRect">
            <a:avLst/>
          </a:prstGeom>
          <a:solidFill>
            <a:srgbClr val="17232E"/>
          </a:solidFill>
          <a:ln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941832" y="2084832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000" dirty="0" b="1">
                <a:solidFill>
                  <a:srgbClr val="FFFFFF"/>
                </a:solidFill>
                <a:latin typeface="Aptos"/>
                <a:cs typeface="Aptos"/>
              </a:rPr>
              <a:t>TMA Webapp</a:t>
            </a:r>
            <a:endParaRPr lang="ru-RU" sz="2000" dirty="0"/>
          </a:p>
        </p:txBody>
      </p:sp>
      <p:sp>
        <p:nvSpPr>
          <p:cNvPr id="42" name="Text 42"/>
          <p:cNvSpPr txBox="1"/>
          <p:nvPr/>
        </p:nvSpPr>
        <p:spPr>
          <a:xfrm>
            <a:off x="914400" y="245059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100" dirty="0">
                <a:solidFill>
                  <a:srgbClr val="9DB0C3"/>
                </a:solidFill>
                <a:latin typeface="Aptos"/>
                <a:cs typeface="Aptos"/>
              </a:rPr>
              <a:t>React 19 + Telegram</a:t>
            </a:r>
            <a:endParaRPr lang="ru-RU" sz="1100" dirty="0"/>
          </a:p>
        </p:txBody>
      </p:sp>
      <p:sp>
        <p:nvSpPr>
          <p:cNvPr id="43" name="Shape 43"/>
          <p:cNvSpPr/>
          <p:nvPr/>
        </p:nvSpPr>
        <p:spPr>
          <a:xfrm>
            <a:off x="749808" y="4160520"/>
            <a:ext cx="2560320" cy="914400"/>
          </a:xfrm>
          <a:prstGeom prst="roundRect">
            <a:avLst/>
          </a:prstGeom>
          <a:solidFill>
            <a:srgbClr val="17232E"/>
          </a:solidFill>
          <a:ln>
            <a:solidFill>
              <a:srgbClr val="7BCBFF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960120" y="4370832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000" dirty="0" b="1">
                <a:solidFill>
                  <a:srgbClr val="FFFFFF"/>
                </a:solidFill>
                <a:latin typeface="Aptos"/>
                <a:cs typeface="Aptos"/>
              </a:rPr>
              <a:t>Admin</a:t>
            </a:r>
            <a:endParaRPr lang="ru-RU" sz="2000" dirty="0"/>
          </a:p>
        </p:txBody>
      </p:sp>
      <p:sp>
        <p:nvSpPr>
          <p:cNvPr id="45" name="Text 45"/>
          <p:cNvSpPr txBox="1"/>
          <p:nvPr/>
        </p:nvSpPr>
        <p:spPr>
          <a:xfrm>
            <a:off x="914400" y="4736592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100" dirty="0">
                <a:solidFill>
                  <a:srgbClr val="9DB0C3"/>
                </a:solidFill>
                <a:latin typeface="Aptos"/>
                <a:cs typeface="Aptos"/>
              </a:rPr>
              <a:t>React + Ant Design</a:t>
            </a:r>
            <a:endParaRPr lang="ru-RU" sz="1100" dirty="0"/>
          </a:p>
        </p:txBody>
      </p:sp>
      <p:cxnSp>
        <p:nvCxnSpPr>
          <p:cNvPr id="46" name="Line 46"/>
          <p:cNvCxnSpPr/>
          <p:nvPr/>
        </p:nvCxnSpPr>
        <p:spPr>
          <a:xfrm>
            <a:off x="3337560" y="2331720"/>
            <a:ext cx="1325880" cy="685800"/>
          </a:xfrm>
          <a:prstGeom prst="line">
            <a:avLst/>
          </a:prstGeom>
          <a:ln w="25400">
            <a:solidFill>
              <a:srgbClr val="46E8A8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3337560" y="3794760"/>
            <a:ext cx="1325880" cy="822960"/>
          </a:xfrm>
          <a:prstGeom prst="line">
            <a:avLst/>
          </a:prstGeom>
          <a:ln w="25400">
            <a:solidFill>
              <a:srgbClr val="7BCBFF"/>
            </a:solidFill>
          </a:ln>
        </p:spPr>
      </p:cxnSp>
      <p:sp>
        <p:nvSpPr>
          <p:cNvPr id="48" name="Shape 48"/>
          <p:cNvSpPr/>
          <p:nvPr/>
        </p:nvSpPr>
        <p:spPr>
          <a:xfrm>
            <a:off x="4663440" y="2331720"/>
            <a:ext cx="2834640" cy="2423160"/>
          </a:xfrm>
          <a:prstGeom prst="roundRect">
            <a:avLst/>
          </a:prstGeom>
          <a:solidFill>
            <a:srgbClr val="1C2A35"/>
          </a:solidFill>
          <a:ln>
            <a:solidFill>
              <a:srgbClr val="F7D36B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4882896" y="2743200"/>
            <a:ext cx="2395728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200" dirty="0" b="1">
                <a:solidFill>
                  <a:srgbClr val="FFFFFF"/>
                </a:solidFill>
                <a:latin typeface="Aptos"/>
                <a:cs typeface="Aptos"/>
              </a:rPr>
              <a:t>Spring Boot API</a:t>
            </a:r>
            <a:endParaRPr lang="ru-RU" sz="2200" dirty="0"/>
          </a:p>
        </p:txBody>
      </p:sp>
      <p:sp>
        <p:nvSpPr>
          <p:cNvPr id="50" name="Text 50"/>
          <p:cNvSpPr txBox="1"/>
          <p:nvPr/>
        </p:nvSpPr>
        <p:spPr>
          <a:xfrm>
            <a:off x="5010912" y="333756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500" dirty="0">
                <a:solidFill>
                  <a:srgbClr val="D2DEE8"/>
                </a:solidFill>
                <a:latin typeface="Aptos"/>
                <a:cs typeface="Aptos"/>
              </a:rPr>
              <a:t>Controller → Service → Repository</a:t>
            </a:r>
            <a:endParaRPr lang="ru-RU" sz="1500" dirty="0"/>
          </a:p>
        </p:txBody>
      </p:sp>
      <p:cxnSp>
        <p:nvCxnSpPr>
          <p:cNvPr id="51" name="Line 51"/>
          <p:cNvCxnSpPr/>
          <p:nvPr/>
        </p:nvCxnSpPr>
        <p:spPr>
          <a:xfrm>
            <a:off x="7498080" y="3520440"/>
            <a:ext cx="1234440" cy="9144"/>
          </a:xfrm>
          <a:prstGeom prst="line">
            <a:avLst/>
          </a:prstGeom>
          <a:ln w="25400">
            <a:solidFill>
              <a:srgbClr val="F7D36B"/>
            </a:solidFill>
          </a:ln>
        </p:spPr>
      </p:cxnSp>
      <p:sp>
        <p:nvSpPr>
          <p:cNvPr id="52" name="Shape 52"/>
          <p:cNvSpPr/>
          <p:nvPr/>
        </p:nvSpPr>
        <p:spPr>
          <a:xfrm>
            <a:off x="8732520" y="2057400"/>
            <a:ext cx="2377440" cy="777240"/>
          </a:xfrm>
          <a:prstGeom prst="roundRect">
            <a:avLst/>
          </a:prstGeom>
          <a:solidFill>
            <a:srgbClr val="16232A"/>
          </a:solidFill>
          <a:ln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8933688" y="226771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PostgreSQL</a:t>
            </a:r>
            <a:endParaRPr lang="ru-RU" sz="1800" dirty="0"/>
          </a:p>
        </p:txBody>
      </p:sp>
      <p:sp>
        <p:nvSpPr>
          <p:cNvPr id="54" name="Shape 54"/>
          <p:cNvSpPr/>
          <p:nvPr/>
        </p:nvSpPr>
        <p:spPr>
          <a:xfrm>
            <a:off x="8732520" y="3246120"/>
            <a:ext cx="2377440" cy="777240"/>
          </a:xfrm>
          <a:prstGeom prst="roundRect">
            <a:avLst/>
          </a:prstGeom>
          <a:solidFill>
            <a:srgbClr val="16232A"/>
          </a:solidFill>
          <a:ln>
            <a:solidFill>
              <a:srgbClr val="7BCBFF"/>
            </a:solidFill>
          </a:ln>
        </p:spPr>
        <p:txBody>
          <a:bodyPr/>
          <a:lstStyle/>
          <a:p/>
        </p:txBody>
      </p:sp>
      <p:sp>
        <p:nvSpPr>
          <p:cNvPr id="55" name="Text 55"/>
          <p:cNvSpPr txBox="1"/>
          <p:nvPr/>
        </p:nvSpPr>
        <p:spPr>
          <a:xfrm>
            <a:off x="8915400" y="345643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Polemica API</a:t>
            </a:r>
            <a:endParaRPr lang="ru-RU" sz="1800" dirty="0"/>
          </a:p>
        </p:txBody>
      </p:sp>
      <p:sp>
        <p:nvSpPr>
          <p:cNvPr id="56" name="Shape 56"/>
          <p:cNvSpPr/>
          <p:nvPr/>
        </p:nvSpPr>
        <p:spPr>
          <a:xfrm>
            <a:off x="8732520" y="4434840"/>
            <a:ext cx="2377440" cy="777240"/>
          </a:xfrm>
          <a:prstGeom prst="roundRect">
            <a:avLst/>
          </a:prstGeom>
          <a:solidFill>
            <a:srgbClr val="16232A"/>
          </a:solidFill>
          <a:ln>
            <a:solidFill>
              <a:srgbClr val="F7D36B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8942832" y="4645152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800" dirty="0" b="1">
                <a:solidFill>
                  <a:srgbClr val="FFFFFF"/>
                </a:solidFill>
                <a:latin typeface="Aptos"/>
                <a:cs typeface="Aptos"/>
              </a:rPr>
              <a:t>S3 / Bot API</a:t>
            </a:r>
            <a:endParaRPr lang="ru-RU" sz="1800" dirty="0"/>
          </a:p>
        </p:txBody>
      </p:sp>
      <p:sp>
        <p:nvSpPr>
          <p:cNvPr id="58" name="Text 58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3/12</a:t>
            </a:r>
            <a:endParaRPr lang="ru-RU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Что делает проект AI-native</a:t>
            </a:r>
            <a:endParaRPr lang="ru-RU" sz="2900" dirty="0"/>
          </a:p>
        </p:txBody>
      </p:sp>
      <p:sp>
        <p:nvSpPr>
          <p:cNvPr id="61" name="Text 61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Не промпты. Контекст, который можно безопасно использовать</a:t>
            </a:r>
            <a:endParaRPr lang="ru-RU" sz="1300" dirty="0"/>
          </a:p>
        </p:txBody>
      </p:sp>
      <p:sp>
        <p:nvSpPr>
          <p:cNvPr id="62" name="Text 62"/>
          <p:cNvSpPr txBox="1"/>
          <p:nvPr/>
        </p:nvSpPr>
        <p:spPr>
          <a:xfrm>
            <a:off x="749808" y="1691640"/>
            <a:ext cx="5486400" cy="35204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AGENTS.md задает правила работы агента: что читать, как проверять, что не трогать.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memory-bank хранит продуктовые решения, статус, архитектурные паттерны и операционные наблюдения.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Глоссарий защищает домен от распада: пользователь ≠ игрок, серия ≠ игра, турнир ≠ соревнование Polemica.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Skills превращают повторяемые задачи в процедурную память: feature discovery, local testing, readonly prod DB.</a:t>
            </a:r>
            <a:endParaRPr lang="ru-RU" sz="1800" dirty="0"/>
          </a:p>
        </p:txBody>
      </p:sp>
      <p:sp>
        <p:nvSpPr>
          <p:cNvPr id="63" name="Shape 63"/>
          <p:cNvSpPr/>
          <p:nvPr/>
        </p:nvSpPr>
        <p:spPr>
          <a:xfrm>
            <a:off x="6903720" y="1691640"/>
            <a:ext cx="4389120" cy="3520440"/>
          </a:xfrm>
          <a:prstGeom prst="roundRect">
            <a:avLst/>
          </a:prstGeom>
          <a:solidFill>
            <a:srgbClr val="14212B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7269480" y="20299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200" dirty="0" b="1">
                <a:solidFill>
                  <a:srgbClr val="FFFFFF"/>
                </a:solidFill>
                <a:latin typeface="Aptos"/>
                <a:cs typeface="Aptos"/>
              </a:rPr>
              <a:t>AI получает не только код</a:t>
            </a:r>
            <a:endParaRPr lang="ru-RU" sz="2200" dirty="0"/>
          </a:p>
        </p:txBody>
      </p:sp>
      <p:sp>
        <p:nvSpPr>
          <p:cNvPr id="65" name="Text 65"/>
          <p:cNvSpPr txBox="1"/>
          <p:nvPr/>
        </p:nvSpPr>
        <p:spPr>
          <a:xfrm>
            <a:off x="7406640" y="2788920"/>
            <a:ext cx="3383280" cy="1051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46E8A8"/>
                </a:solidFill>
                <a:latin typeface="Aptos"/>
                <a:cs typeface="Aptos"/>
              </a:rPr>
              <a:t>он получает язык проекта, историю решений и допустимые границы изменений</a:t>
            </a:r>
            <a:endParaRPr lang="ru-RU" sz="2400" dirty="0"/>
          </a:p>
        </p:txBody>
      </p:sp>
      <p:sp>
        <p:nvSpPr>
          <p:cNvPr id="66" name="Text 66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4/12</a:t>
            </a:r>
            <a:endParaRPr lang="ru-RU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Память проекта как инженерный артефакт</a:t>
            </a:r>
            <a:endParaRPr lang="ru-RU" sz="2900" dirty="0"/>
          </a:p>
        </p:txBody>
      </p:sp>
      <p:sp>
        <p:nvSpPr>
          <p:cNvPr id="69" name="Text 69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Почему агент не начинает каждую задачу с нуля</a:t>
            </a:r>
            <a:endParaRPr lang="ru-RU" sz="1300" dirty="0"/>
          </a:p>
        </p:txBody>
      </p:sp>
      <p:sp>
        <p:nvSpPr>
          <p:cNvPr id="70" name="Shape 70"/>
          <p:cNvSpPr/>
          <p:nvPr/>
        </p:nvSpPr>
        <p:spPr>
          <a:xfrm>
            <a:off x="685800" y="1572768"/>
            <a:ext cx="3383280" cy="141732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685800" y="1572768"/>
            <a:ext cx="64008" cy="141732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ext 72"/>
          <p:cNvSpPr txBox="1"/>
          <p:nvPr/>
        </p:nvSpPr>
        <p:spPr>
          <a:xfrm>
            <a:off x="886968" y="1709928"/>
            <a:ext cx="30540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46E8A8"/>
                </a:solidFill>
                <a:latin typeface="Aptos"/>
                <a:cs typeface="Aptos"/>
              </a:rPr>
              <a:t>ACTIVE CONTEXT</a:t>
            </a:r>
            <a:endParaRPr lang="ru-RU" sz="900" dirty="0"/>
          </a:p>
        </p:txBody>
      </p:sp>
      <p:sp>
        <p:nvSpPr>
          <p:cNvPr id="73" name="Text 73"/>
          <p:cNvSpPr txBox="1"/>
          <p:nvPr/>
        </p:nvSpPr>
        <p:spPr>
          <a:xfrm>
            <a:off x="886968" y="2029968"/>
            <a:ext cx="30540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Что менялось недавно</a:t>
            </a:r>
            <a:endParaRPr lang="ru-RU" sz="1700" dirty="0"/>
          </a:p>
        </p:txBody>
      </p:sp>
      <p:sp>
        <p:nvSpPr>
          <p:cNvPr id="74" name="Text 74"/>
          <p:cNvSpPr txBox="1"/>
          <p:nvPr/>
        </p:nvSpPr>
        <p:spPr>
          <a:xfrm>
            <a:off x="886968" y="2505456"/>
            <a:ext cx="3054096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Dated notes по feature, bugfix, infra и продуктовым решениям.</a:t>
            </a:r>
            <a:endParaRPr lang="ru-RU" sz="1200" dirty="0"/>
          </a:p>
        </p:txBody>
      </p:sp>
      <p:sp>
        <p:nvSpPr>
          <p:cNvPr id="75" name="Shape 75"/>
          <p:cNvSpPr/>
          <p:nvPr/>
        </p:nvSpPr>
        <p:spPr>
          <a:xfrm>
            <a:off x="685800" y="3246120"/>
            <a:ext cx="3383280" cy="141732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76" name="Shape 76"/>
          <p:cNvSpPr/>
          <p:nvPr/>
        </p:nvSpPr>
        <p:spPr>
          <a:xfrm>
            <a:off x="685800" y="3246120"/>
            <a:ext cx="64008" cy="141732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ext 77"/>
          <p:cNvSpPr txBox="1"/>
          <p:nvPr/>
        </p:nvSpPr>
        <p:spPr>
          <a:xfrm>
            <a:off x="886968" y="3383280"/>
            <a:ext cx="30540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7BCBFF"/>
                </a:solidFill>
                <a:latin typeface="Aptos"/>
                <a:cs typeface="Aptos"/>
              </a:rPr>
              <a:t>PROGRESS</a:t>
            </a:r>
            <a:endParaRPr lang="ru-RU" sz="900" dirty="0"/>
          </a:p>
        </p:txBody>
      </p:sp>
      <p:sp>
        <p:nvSpPr>
          <p:cNvPr id="78" name="Text 78"/>
          <p:cNvSpPr txBox="1"/>
          <p:nvPr/>
        </p:nvSpPr>
        <p:spPr>
          <a:xfrm>
            <a:off x="886968" y="3703320"/>
            <a:ext cx="30540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Что уже сделано</a:t>
            </a:r>
            <a:endParaRPr lang="ru-RU" sz="1700" dirty="0"/>
          </a:p>
        </p:txBody>
      </p:sp>
      <p:sp>
        <p:nvSpPr>
          <p:cNvPr id="79" name="Text 79"/>
          <p:cNvSpPr txBox="1"/>
          <p:nvPr/>
        </p:nvSpPr>
        <p:spPr>
          <a:xfrm>
            <a:off x="886968" y="4178808"/>
            <a:ext cx="3054096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Состояния фич, проверки, тесты, известные ограничения.</a:t>
            </a:r>
            <a:endParaRPr lang="ru-RU" sz="1200" dirty="0"/>
          </a:p>
        </p:txBody>
      </p:sp>
      <p:sp>
        <p:nvSpPr>
          <p:cNvPr id="80" name="Shape 80"/>
          <p:cNvSpPr/>
          <p:nvPr/>
        </p:nvSpPr>
        <p:spPr>
          <a:xfrm>
            <a:off x="4434840" y="1572768"/>
            <a:ext cx="3383280" cy="141732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4434840" y="1572768"/>
            <a:ext cx="64008" cy="141732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4636008" y="1709928"/>
            <a:ext cx="30540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F7D36B"/>
                </a:solidFill>
                <a:latin typeface="Aptos"/>
                <a:cs typeface="Aptos"/>
              </a:rPr>
              <a:t>SYSTEM PATTERNS</a:t>
            </a:r>
            <a:endParaRPr lang="ru-RU" sz="900" dirty="0"/>
          </a:p>
        </p:txBody>
      </p:sp>
      <p:sp>
        <p:nvSpPr>
          <p:cNvPr id="83" name="Text 83"/>
          <p:cNvSpPr txBox="1"/>
          <p:nvPr/>
        </p:nvSpPr>
        <p:spPr>
          <a:xfrm>
            <a:off x="4636008" y="2029968"/>
            <a:ext cx="30540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Как устроена система</a:t>
            </a:r>
            <a:endParaRPr lang="ru-RU" sz="1700" dirty="0"/>
          </a:p>
        </p:txBody>
      </p:sp>
      <p:sp>
        <p:nvSpPr>
          <p:cNvPr id="84" name="Text 84"/>
          <p:cNvSpPr txBox="1"/>
          <p:nvPr/>
        </p:nvSpPr>
        <p:spPr>
          <a:xfrm>
            <a:off x="4636008" y="2505456"/>
            <a:ext cx="3054096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Layered architecture, events, sync/scoring, security, deployment patterns.</a:t>
            </a:r>
            <a:endParaRPr lang="ru-RU" sz="1200" dirty="0"/>
          </a:p>
        </p:txBody>
      </p:sp>
      <p:sp>
        <p:nvSpPr>
          <p:cNvPr id="85" name="Shape 85"/>
          <p:cNvSpPr/>
          <p:nvPr/>
        </p:nvSpPr>
        <p:spPr>
          <a:xfrm>
            <a:off x="4434840" y="3246120"/>
            <a:ext cx="3383280" cy="141732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86" name="Shape 86"/>
          <p:cNvSpPr/>
          <p:nvPr/>
        </p:nvSpPr>
        <p:spPr>
          <a:xfrm>
            <a:off x="4434840" y="3246120"/>
            <a:ext cx="64008" cy="141732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Text 87"/>
          <p:cNvSpPr txBox="1"/>
          <p:nvPr/>
        </p:nvSpPr>
        <p:spPr>
          <a:xfrm>
            <a:off x="4636008" y="3383280"/>
            <a:ext cx="30540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46E8A8"/>
                </a:solidFill>
                <a:latin typeface="Aptos"/>
                <a:cs typeface="Aptos"/>
              </a:rPr>
              <a:t>GLOSSARY</a:t>
            </a:r>
            <a:endParaRPr lang="ru-RU" sz="900" dirty="0"/>
          </a:p>
        </p:txBody>
      </p:sp>
      <p:sp>
        <p:nvSpPr>
          <p:cNvPr id="88" name="Text 88"/>
          <p:cNvSpPr txBox="1"/>
          <p:nvPr/>
        </p:nvSpPr>
        <p:spPr>
          <a:xfrm>
            <a:off x="4636008" y="3703320"/>
            <a:ext cx="30540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Как говорить о домене</a:t>
            </a:r>
            <a:endParaRPr lang="ru-RU" sz="1700" dirty="0"/>
          </a:p>
        </p:txBody>
      </p:sp>
      <p:sp>
        <p:nvSpPr>
          <p:cNvPr id="89" name="Text 89"/>
          <p:cNvSpPr txBox="1"/>
          <p:nvPr/>
        </p:nvSpPr>
        <p:spPr>
          <a:xfrm>
            <a:off x="4636008" y="4178808"/>
            <a:ext cx="3054096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Словарь терминов снижает ошибки в API, UI-текстах и обсуждениях.</a:t>
            </a:r>
            <a:endParaRPr lang="ru-RU" sz="1200" dirty="0"/>
          </a:p>
        </p:txBody>
      </p:sp>
      <p:sp>
        <p:nvSpPr>
          <p:cNvPr id="90" name="Shape 90"/>
          <p:cNvSpPr/>
          <p:nvPr/>
        </p:nvSpPr>
        <p:spPr>
          <a:xfrm>
            <a:off x="8183880" y="2395728"/>
            <a:ext cx="3063240" cy="141732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8183880" y="2395728"/>
            <a:ext cx="64008" cy="141732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Text 92"/>
          <p:cNvSpPr txBox="1"/>
          <p:nvPr/>
        </p:nvSpPr>
        <p:spPr>
          <a:xfrm>
            <a:off x="8385048" y="2532888"/>
            <a:ext cx="273405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7BCBFF"/>
                </a:solidFill>
                <a:latin typeface="Aptos"/>
                <a:cs typeface="Aptos"/>
              </a:rPr>
              <a:t>OPERATIONAL INSIGHTS</a:t>
            </a:r>
            <a:endParaRPr lang="ru-RU" sz="900" dirty="0"/>
          </a:p>
        </p:txBody>
      </p:sp>
      <p:sp>
        <p:nvSpPr>
          <p:cNvPr id="93" name="Text 93"/>
          <p:cNvSpPr txBox="1"/>
          <p:nvPr/>
        </p:nvSpPr>
        <p:spPr>
          <a:xfrm>
            <a:off x="8385048" y="2852928"/>
            <a:ext cx="273405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Как продукт реально живет</a:t>
            </a:r>
            <a:endParaRPr lang="ru-RU" sz="1700" dirty="0"/>
          </a:p>
        </p:txBody>
      </p:sp>
      <p:sp>
        <p:nvSpPr>
          <p:cNvPr id="94" name="Text 94"/>
          <p:cNvSpPr txBox="1"/>
          <p:nvPr/>
        </p:nvSpPr>
        <p:spPr>
          <a:xfrm>
            <a:off x="8385048" y="3328416"/>
            <a:ext cx="2734056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Same-day серии, pack defaults, вопросы для проверки гипотез.</a:t>
            </a:r>
            <a:endParaRPr lang="ru-RU" sz="1200" dirty="0"/>
          </a:p>
        </p:txBody>
      </p:sp>
      <p:sp>
        <p:nvSpPr>
          <p:cNvPr id="95" name="Text 95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5/12</a:t>
            </a:r>
            <a:endParaRPr lang="ru-RU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97" name="Text 97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Как выглядит AI full-stack фича</a:t>
            </a:r>
            <a:endParaRPr lang="ru-RU" sz="2900" dirty="0"/>
          </a:p>
        </p:txBody>
      </p:sp>
      <p:sp>
        <p:nvSpPr>
          <p:cNvPr id="98" name="Text 98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Вертикальный срез вместо набора разрозненных файлов</a:t>
            </a:r>
            <a:endParaRPr lang="ru-RU" sz="1300" dirty="0"/>
          </a:p>
        </p:txBody>
      </p:sp>
      <p:sp>
        <p:nvSpPr>
          <p:cNvPr id="99" name="Shape 99"/>
          <p:cNvSpPr/>
          <p:nvPr/>
        </p:nvSpPr>
        <p:spPr>
          <a:xfrm>
            <a:off x="731520" y="2423160"/>
            <a:ext cx="1554480" cy="777240"/>
          </a:xfrm>
          <a:prstGeom prst="chevron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Shape 100"/>
          <p:cNvSpPr/>
          <p:nvPr/>
        </p:nvSpPr>
        <p:spPr>
          <a:xfrm>
            <a:off x="2423160" y="2423160"/>
            <a:ext cx="1554480" cy="777240"/>
          </a:xfrm>
          <a:prstGeom prst="chevron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Shape 101"/>
          <p:cNvSpPr/>
          <p:nvPr/>
        </p:nvSpPr>
        <p:spPr>
          <a:xfrm>
            <a:off x="4114800" y="2423160"/>
            <a:ext cx="1554480" cy="777240"/>
          </a:xfrm>
          <a:prstGeom prst="chevron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Shape 102"/>
          <p:cNvSpPr/>
          <p:nvPr/>
        </p:nvSpPr>
        <p:spPr>
          <a:xfrm>
            <a:off x="5806440" y="2423160"/>
            <a:ext cx="1554480" cy="777240"/>
          </a:xfrm>
          <a:prstGeom prst="chevron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Shape 103"/>
          <p:cNvSpPr/>
          <p:nvPr/>
        </p:nvSpPr>
        <p:spPr>
          <a:xfrm>
            <a:off x="7498080" y="2423160"/>
            <a:ext cx="1554480" cy="777240"/>
          </a:xfrm>
          <a:prstGeom prst="chevron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Shape 104"/>
          <p:cNvSpPr/>
          <p:nvPr/>
        </p:nvSpPr>
        <p:spPr>
          <a:xfrm>
            <a:off x="9189720" y="2423160"/>
            <a:ext cx="1554480" cy="777240"/>
          </a:xfrm>
          <a:prstGeom prst="chevron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Text 105"/>
          <p:cNvSpPr txBox="1"/>
          <p:nvPr/>
        </p:nvSpPr>
        <p:spPr>
          <a:xfrm>
            <a:off x="749808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Product
rule</a:t>
            </a:r>
            <a:endParaRPr lang="ru-RU" sz="1600" dirty="0"/>
          </a:p>
        </p:txBody>
      </p:sp>
      <p:sp>
        <p:nvSpPr>
          <p:cNvPr id="106" name="Text 106"/>
          <p:cNvSpPr txBox="1"/>
          <p:nvPr/>
        </p:nvSpPr>
        <p:spPr>
          <a:xfrm>
            <a:off x="2450592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Flyway
model</a:t>
            </a:r>
            <a:endParaRPr lang="ru-RU" sz="1600" dirty="0"/>
          </a:p>
        </p:txBody>
      </p:sp>
      <p:sp>
        <p:nvSpPr>
          <p:cNvPr id="107" name="Text 107"/>
          <p:cNvSpPr txBox="1"/>
          <p:nvPr/>
        </p:nvSpPr>
        <p:spPr>
          <a:xfrm>
            <a:off x="4133088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Service
API</a:t>
            </a:r>
            <a:endParaRPr lang="ru-RU" sz="1600" dirty="0"/>
          </a:p>
        </p:txBody>
      </p:sp>
      <p:sp>
        <p:nvSpPr>
          <p:cNvPr id="108" name="Text 108"/>
          <p:cNvSpPr txBox="1"/>
          <p:nvPr/>
        </p:nvSpPr>
        <p:spPr>
          <a:xfrm>
            <a:off x="5833872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TS types
clients</a:t>
            </a:r>
            <a:endParaRPr lang="ru-RU" sz="1600" dirty="0"/>
          </a:p>
        </p:txBody>
      </p:sp>
      <p:sp>
        <p:nvSpPr>
          <p:cNvPr id="109" name="Text 109"/>
          <p:cNvSpPr txBox="1"/>
          <p:nvPr/>
        </p:nvSpPr>
        <p:spPr>
          <a:xfrm>
            <a:off x="7516368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TMA /
Admin UI</a:t>
            </a:r>
            <a:endParaRPr lang="ru-RU" sz="1600" dirty="0"/>
          </a:p>
        </p:txBody>
      </p:sp>
      <p:sp>
        <p:nvSpPr>
          <p:cNvPr id="110" name="Text 110"/>
          <p:cNvSpPr txBox="1"/>
          <p:nvPr/>
        </p:nvSpPr>
        <p:spPr>
          <a:xfrm>
            <a:off x="9217152" y="342900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1600" dirty="0" b="1">
                <a:solidFill>
                  <a:srgbClr val="FFFFFF"/>
                </a:solidFill>
                <a:latin typeface="Aptos"/>
                <a:cs typeface="Aptos"/>
              </a:rPr>
              <a:t>Tests /
builds</a:t>
            </a:r>
            <a:endParaRPr lang="ru-RU" sz="1600" dirty="0"/>
          </a:p>
        </p:txBody>
      </p:sp>
      <p:sp>
        <p:nvSpPr>
          <p:cNvPr id="111" name="Text 111"/>
          <p:cNvSpPr txBox="1"/>
          <p:nvPr/>
        </p:nvSpPr>
        <p:spPr>
          <a:xfrm>
            <a:off x="1097280" y="4892040"/>
            <a:ext cx="9784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46E8A8"/>
                </a:solidFill>
                <a:latin typeface="Aptos"/>
                <a:cs typeface="Aptos"/>
              </a:rPr>
              <a:t>Ключевая способность AI: не написать один файл, а протянуть изменение через контракт целиком.</a:t>
            </a:r>
            <a:endParaRPr lang="ru-RU" sz="2400" dirty="0"/>
          </a:p>
        </p:txBody>
      </p:sp>
      <p:sp>
        <p:nvSpPr>
          <p:cNvPr id="112" name="Text 112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6/12</a:t>
            </a:r>
            <a:endParaRPr lang="ru-RU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14" name="Text 114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Пример: marketplace взрослеет</a:t>
            </a:r>
            <a:endParaRPr lang="ru-RU" sz="2900" dirty="0"/>
          </a:p>
        </p:txBody>
      </p:sp>
      <p:sp>
        <p:nvSpPr>
          <p:cNvPr id="115" name="Text 115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От продажи карт к экономике, жалобам и антимодерации</a:t>
            </a:r>
            <a:endParaRPr lang="ru-RU" sz="1300" dirty="0"/>
          </a:p>
        </p:txBody>
      </p:sp>
      <p:sp>
        <p:nvSpPr>
          <p:cNvPr id="116" name="Shape 116"/>
          <p:cNvSpPr/>
          <p:nvPr/>
        </p:nvSpPr>
        <p:spPr>
          <a:xfrm>
            <a:off x="777240" y="1600200"/>
            <a:ext cx="3154680" cy="292608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17" name="Shape 117"/>
          <p:cNvSpPr/>
          <p:nvPr/>
        </p:nvSpPr>
        <p:spPr>
          <a:xfrm>
            <a:off x="777240" y="1600200"/>
            <a:ext cx="64008" cy="292608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Text 118"/>
          <p:cNvSpPr txBox="1"/>
          <p:nvPr/>
        </p:nvSpPr>
        <p:spPr>
          <a:xfrm>
            <a:off x="978408" y="1737360"/>
            <a:ext cx="28254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46E8A8"/>
                </a:solidFill>
                <a:latin typeface="Aptos"/>
                <a:cs typeface="Aptos"/>
              </a:rPr>
              <a:t>V1</a:t>
            </a:r>
            <a:endParaRPr lang="ru-RU" sz="900" dirty="0"/>
          </a:p>
        </p:txBody>
      </p:sp>
      <p:sp>
        <p:nvSpPr>
          <p:cNvPr id="119" name="Text 119"/>
          <p:cNvSpPr txBox="1"/>
          <p:nvPr/>
        </p:nvSpPr>
        <p:spPr>
          <a:xfrm>
            <a:off x="978408" y="2057400"/>
            <a:ext cx="28254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Лоты и сделки</a:t>
            </a:r>
            <a:endParaRPr lang="ru-RU" sz="1700" dirty="0"/>
          </a:p>
        </p:txBody>
      </p:sp>
      <p:sp>
        <p:nvSpPr>
          <p:cNvPr id="120" name="Text 120"/>
          <p:cNvSpPr txBox="1"/>
          <p:nvPr/>
        </p:nvSpPr>
        <p:spPr>
          <a:xfrm>
            <a:off x="978408" y="2532888"/>
            <a:ext cx="2825496" cy="19019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Покупка с lock, комиссия, история владения, Telegram-уведомления продавцу.</a:t>
            </a:r>
            <a:endParaRPr lang="ru-RU" sz="1200" dirty="0"/>
          </a:p>
        </p:txBody>
      </p:sp>
      <p:sp>
        <p:nvSpPr>
          <p:cNvPr id="121" name="Shape 121"/>
          <p:cNvSpPr/>
          <p:nvPr/>
        </p:nvSpPr>
        <p:spPr>
          <a:xfrm>
            <a:off x="4526280" y="1600200"/>
            <a:ext cx="3154680" cy="292608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22" name="Shape 122"/>
          <p:cNvSpPr/>
          <p:nvPr/>
        </p:nvSpPr>
        <p:spPr>
          <a:xfrm>
            <a:off x="4526280" y="1600200"/>
            <a:ext cx="64008" cy="292608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4727448" y="1737360"/>
            <a:ext cx="28254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F7D36B"/>
                </a:solidFill>
                <a:latin typeface="Aptos"/>
                <a:cs typeface="Aptos"/>
              </a:rPr>
              <a:t>MODERATION</a:t>
            </a:r>
            <a:endParaRPr lang="ru-RU" sz="900" dirty="0"/>
          </a:p>
        </p:txBody>
      </p:sp>
      <p:sp>
        <p:nvSpPr>
          <p:cNvPr id="124" name="Text 124"/>
          <p:cNvSpPr txBox="1"/>
          <p:nvPr/>
        </p:nvSpPr>
        <p:spPr>
          <a:xfrm>
            <a:off x="4727448" y="2057400"/>
            <a:ext cx="28254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Жалобы и санкции</a:t>
            </a:r>
            <a:endParaRPr lang="ru-RU" sz="1700" dirty="0"/>
          </a:p>
        </p:txBody>
      </p:sp>
      <p:sp>
        <p:nvSpPr>
          <p:cNvPr id="125" name="Text 125"/>
          <p:cNvSpPr txBox="1"/>
          <p:nvPr/>
        </p:nvSpPr>
        <p:spPr>
          <a:xfrm>
            <a:off x="4727448" y="2532888"/>
            <a:ext cx="2825496" cy="19019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Сделки получают деталку, жалобы, штрафы, награды жалобщикам и админский workflow.</a:t>
            </a:r>
            <a:endParaRPr lang="ru-RU" sz="1200" dirty="0"/>
          </a:p>
        </p:txBody>
      </p:sp>
      <p:sp>
        <p:nvSpPr>
          <p:cNvPr id="126" name="Shape 126"/>
          <p:cNvSpPr/>
          <p:nvPr/>
        </p:nvSpPr>
        <p:spPr>
          <a:xfrm>
            <a:off x="8275320" y="1600200"/>
            <a:ext cx="3154680" cy="292608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27" name="Shape 127"/>
          <p:cNvSpPr/>
          <p:nvPr/>
        </p:nvSpPr>
        <p:spPr>
          <a:xfrm>
            <a:off x="8275320" y="1600200"/>
            <a:ext cx="64008" cy="292608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Text 128"/>
          <p:cNvSpPr txBox="1"/>
          <p:nvPr/>
        </p:nvSpPr>
        <p:spPr>
          <a:xfrm>
            <a:off x="8476488" y="1737360"/>
            <a:ext cx="282549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7BCBFF"/>
                </a:solidFill>
                <a:latin typeface="Aptos"/>
                <a:cs typeface="Aptos"/>
              </a:rPr>
              <a:t>ECONOMY</a:t>
            </a:r>
            <a:endParaRPr lang="ru-RU" sz="900" dirty="0"/>
          </a:p>
        </p:txBody>
      </p:sp>
      <p:sp>
        <p:nvSpPr>
          <p:cNvPr id="129" name="Text 129"/>
          <p:cNvSpPr txBox="1"/>
          <p:nvPr/>
        </p:nvSpPr>
        <p:spPr>
          <a:xfrm>
            <a:off x="8476488" y="2057400"/>
            <a:ext cx="282549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Контракты</a:t>
            </a:r>
            <a:endParaRPr lang="ru-RU" sz="1700" dirty="0"/>
          </a:p>
        </p:txBody>
      </p:sp>
      <p:sp>
        <p:nvSpPr>
          <p:cNvPr id="130" name="Text 130"/>
          <p:cNvSpPr txBox="1"/>
          <p:nvPr/>
        </p:nvSpPr>
        <p:spPr>
          <a:xfrm>
            <a:off x="8476488" y="2532888"/>
            <a:ext cx="2825496" cy="19019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Покупка становится перезаключением контракта: uses восстанавливаются, timesRenewed растет, лимиты сохраняются.</a:t>
            </a:r>
            <a:endParaRPr lang="ru-RU" sz="1200" dirty="0"/>
          </a:p>
        </p:txBody>
      </p:sp>
      <p:sp>
        <p:nvSpPr>
          <p:cNvPr id="131" name="Text 131"/>
          <p:cNvSpPr txBox="1"/>
          <p:nvPr/>
        </p:nvSpPr>
        <p:spPr>
          <a:xfrm>
            <a:off x="914400" y="5074920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100" dirty="0" b="1">
                <a:solidFill>
                  <a:srgbClr val="DDE7F0"/>
                </a:solidFill>
                <a:latin typeface="Aptos"/>
                <a:cs typeface="Aptos"/>
              </a:rPr>
              <a:t>Хорошая AI-native фича оставляет после себя не только код, но и понятную историю решения.</a:t>
            </a:r>
            <a:endParaRPr lang="ru-RU" sz="2100" dirty="0"/>
          </a:p>
        </p:txBody>
      </p:sp>
      <p:sp>
        <p:nvSpPr>
          <p:cNvPr id="132" name="Text 132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7/12</a:t>
            </a:r>
            <a:endParaRPr lang="ru-RU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34" name="Text 134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Инсайты из эксплуатации</a:t>
            </a:r>
            <a:endParaRPr lang="ru-RU" sz="2900" dirty="0"/>
          </a:p>
        </p:txBody>
      </p:sp>
      <p:sp>
        <p:nvSpPr>
          <p:cNvPr id="135" name="Text 135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Именно такие наблюдения двигают продукт</a:t>
            </a:r>
            <a:endParaRPr lang="ru-RU" sz="1300" dirty="0"/>
          </a:p>
        </p:txBody>
      </p:sp>
      <p:sp>
        <p:nvSpPr>
          <p:cNvPr id="136" name="Shape 136"/>
          <p:cNvSpPr/>
          <p:nvPr/>
        </p:nvSpPr>
        <p:spPr>
          <a:xfrm>
            <a:off x="868680" y="1600200"/>
            <a:ext cx="10424160" cy="3749040"/>
          </a:xfrm>
          <a:prstGeom prst="roundRect">
            <a:avLst/>
          </a:prstGeom>
          <a:solidFill>
            <a:srgbClr val="14212B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37" name="Text 137"/>
          <p:cNvSpPr txBox="1"/>
          <p:nvPr/>
        </p:nvSpPr>
        <p:spPr>
          <a:xfrm>
            <a:off x="1234440" y="1938528"/>
            <a:ext cx="973836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800" dirty="0" b="1">
                <a:solidFill>
                  <a:srgbClr val="46E8A8"/>
                </a:solidFill>
                <a:latin typeface="Aptos"/>
                <a:cs typeface="Aptos"/>
              </a:rPr>
              <a:t>Серии часто создаются в день игр</a:t>
            </a:r>
            <a:endParaRPr lang="ru-RU" sz="2800" dirty="0"/>
          </a:p>
        </p:txBody>
      </p:sp>
      <p:sp>
        <p:nvSpPr>
          <p:cNvPr id="138" name="Text 138"/>
          <p:cNvSpPr txBox="1"/>
          <p:nvPr/>
        </p:nvSpPr>
        <p:spPr>
          <a:xfrm>
            <a:off x="1417320" y="2743200"/>
            <a:ext cx="8869680" cy="205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>
                <a:solidFill>
                  <a:srgbClr val="E8EEF5"/>
                </a:solidFill>
                <a:latin typeface="Aptos"/>
                <a:cs typeface="Aptos"/>
              </a:rPr>
              <a:t>• Админский flow должен поддерживать быстрый same-day setup: создать, назначить игроков, стартовать, sync, score.</a:t>
            </a:r>
            <a:endParaRPr lang="ru-RU" sz="1700" dirty="0"/>
          </a:p>
          <a:p>
            <a:pPr algn="l"/>
            <a:r>
              <a:rPr lang="ru-RU" sz="1700" dirty="0">
                <a:solidFill>
                  <a:srgbClr val="E8EEF5"/>
                </a:solidFill>
                <a:latin typeface="Aptos"/>
                <a:cs typeface="Aptos"/>
              </a:rPr>
              <a:t>• TMA должен показывать активные серии с открытым составом, а не только заранее созданные UPCOMING-сущности.</a:t>
            </a:r>
            <a:endParaRPr lang="ru-RU" sz="1700" dirty="0"/>
          </a:p>
          <a:p>
            <a:pPr algn="l"/>
            <a:r>
              <a:rPr lang="ru-RU" sz="1700" dirty="0">
                <a:solidFill>
                  <a:srgbClr val="E8EEF5"/>
                </a:solidFill>
                <a:latin typeface="Aptos"/>
                <a:cs typeface="Aptos"/>
              </a:rPr>
              <a:t>• Напоминания за час до дедлайна могут не сработать, если серия создана позже этого окна.</a:t>
            </a:r>
            <a:endParaRPr lang="ru-RU" sz="1700" dirty="0"/>
          </a:p>
          <a:p>
            <a:pPr algn="l"/>
            <a:r>
              <a:rPr lang="ru-RU" sz="1700" dirty="0">
                <a:solidFill>
                  <a:srgbClr val="E8EEF5"/>
                </a:solidFill>
                <a:latin typeface="Aptos"/>
                <a:cs typeface="Aptos"/>
              </a:rPr>
              <a:t>• STANDALONE sync нуждается в name_prefix и часто в game_started_on, потому что похожие игры повторяются.</a:t>
            </a:r>
            <a:endParaRPr lang="ru-RU" sz="1700" dirty="0"/>
          </a:p>
        </p:txBody>
      </p:sp>
      <p:sp>
        <p:nvSpPr>
          <p:cNvPr id="139" name="Text 139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8/12</a:t>
            </a:r>
            <a:endParaRPr lang="ru-RU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41" name="Text 141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Где AI ошибается</a:t>
            </a:r>
            <a:endParaRPr lang="ru-RU" sz="2900" dirty="0"/>
          </a:p>
        </p:txBody>
      </p:sp>
      <p:sp>
        <p:nvSpPr>
          <p:cNvPr id="142" name="Text 142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И как проект снижает риск</a:t>
            </a:r>
            <a:endParaRPr lang="ru-RU" sz="1300" dirty="0"/>
          </a:p>
        </p:txBody>
      </p:sp>
      <p:sp>
        <p:nvSpPr>
          <p:cNvPr id="143" name="Shape 143"/>
          <p:cNvSpPr/>
          <p:nvPr/>
        </p:nvSpPr>
        <p:spPr>
          <a:xfrm>
            <a:off x="685800" y="1572768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44" name="Shape 144"/>
          <p:cNvSpPr/>
          <p:nvPr/>
        </p:nvSpPr>
        <p:spPr>
          <a:xfrm>
            <a:off x="685800" y="1572768"/>
            <a:ext cx="64008" cy="3291840"/>
          </a:xfrm>
          <a:prstGeom prst="rect">
            <a:avLst/>
          </a:prstGeom>
          <a:solidFill>
            <a:srgbClr val="F7D3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Text 145"/>
          <p:cNvSpPr txBox="1"/>
          <p:nvPr/>
        </p:nvSpPr>
        <p:spPr>
          <a:xfrm>
            <a:off x="886968" y="1709928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F7D36B"/>
                </a:solidFill>
                <a:latin typeface="Aptos"/>
                <a:cs typeface="Aptos"/>
              </a:rPr>
              <a:t>LANGUAGE</a:t>
            </a:r>
            <a:endParaRPr lang="ru-RU" sz="900" dirty="0"/>
          </a:p>
        </p:txBody>
      </p:sp>
      <p:sp>
        <p:nvSpPr>
          <p:cNvPr id="146" name="Text 146"/>
          <p:cNvSpPr txBox="1"/>
          <p:nvPr/>
        </p:nvSpPr>
        <p:spPr>
          <a:xfrm>
            <a:off x="886968" y="2029968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Путает термины</a:t>
            </a:r>
            <a:endParaRPr lang="ru-RU" sz="1700" dirty="0"/>
          </a:p>
        </p:txBody>
      </p:sp>
      <p:sp>
        <p:nvSpPr>
          <p:cNvPr id="147" name="Text 147"/>
          <p:cNvSpPr txBox="1"/>
          <p:nvPr/>
        </p:nvSpPr>
        <p:spPr>
          <a:xfrm>
            <a:off x="886968" y="2505456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Глоссарий фиксирует различия: telegram_user, fantasy_player, series, game, tournament, Polemica competition.</a:t>
            </a:r>
            <a:endParaRPr lang="ru-RU" sz="1200" dirty="0"/>
          </a:p>
        </p:txBody>
      </p:sp>
      <p:sp>
        <p:nvSpPr>
          <p:cNvPr id="148" name="Shape 148"/>
          <p:cNvSpPr/>
          <p:nvPr/>
        </p:nvSpPr>
        <p:spPr>
          <a:xfrm>
            <a:off x="4434840" y="1572768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49" name="Shape 149"/>
          <p:cNvSpPr/>
          <p:nvPr/>
        </p:nvSpPr>
        <p:spPr>
          <a:xfrm>
            <a:off x="4434840" y="1572768"/>
            <a:ext cx="64008" cy="3291840"/>
          </a:xfrm>
          <a:prstGeom prst="rect">
            <a:avLst/>
          </a:prstGeom>
          <a:solidFill>
            <a:srgbClr val="46E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Text 150"/>
          <p:cNvSpPr txBox="1"/>
          <p:nvPr/>
        </p:nvSpPr>
        <p:spPr>
          <a:xfrm>
            <a:off x="4636008" y="1709928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46E8A8"/>
                </a:solidFill>
                <a:latin typeface="Aptos"/>
                <a:cs typeface="Aptos"/>
              </a:rPr>
              <a:t>CONTRACTS</a:t>
            </a:r>
            <a:endParaRPr lang="ru-RU" sz="900" dirty="0"/>
          </a:p>
        </p:txBody>
      </p:sp>
      <p:sp>
        <p:nvSpPr>
          <p:cNvPr id="151" name="Text 151"/>
          <p:cNvSpPr txBox="1"/>
          <p:nvPr/>
        </p:nvSpPr>
        <p:spPr>
          <a:xfrm>
            <a:off x="4636008" y="2029968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Забывает соседний слой</a:t>
            </a:r>
            <a:endParaRPr lang="ru-RU" sz="1700" dirty="0"/>
          </a:p>
        </p:txBody>
      </p:sp>
      <p:sp>
        <p:nvSpPr>
          <p:cNvPr id="152" name="Text 152"/>
          <p:cNvSpPr txBox="1"/>
          <p:nvPr/>
        </p:nvSpPr>
        <p:spPr>
          <a:xfrm>
            <a:off x="4636008" y="2505456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Правило: DTO, TS-типы, API-клиенты и UI-call-sites двигаются вместе.</a:t>
            </a:r>
            <a:endParaRPr lang="ru-RU" sz="1200" dirty="0"/>
          </a:p>
        </p:txBody>
      </p:sp>
      <p:sp>
        <p:nvSpPr>
          <p:cNvPr id="153" name="Shape 153"/>
          <p:cNvSpPr/>
          <p:nvPr/>
        </p:nvSpPr>
        <p:spPr>
          <a:xfrm>
            <a:off x="8183880" y="1572768"/>
            <a:ext cx="3337560" cy="3291840"/>
          </a:xfrm>
          <a:prstGeom prst="roundRect">
            <a:avLst/>
          </a:prstGeom>
          <a:solidFill>
            <a:srgbClr val="17232E"/>
          </a:solidFill>
          <a:ln>
            <a:solidFill>
              <a:srgbClr val="263846"/>
            </a:solidFill>
          </a:ln>
        </p:spPr>
        <p:txBody>
          <a:bodyPr/>
          <a:lstStyle/>
          <a:p/>
        </p:txBody>
      </p:sp>
      <p:sp>
        <p:nvSpPr>
          <p:cNvPr id="154" name="Shape 154"/>
          <p:cNvSpPr/>
          <p:nvPr/>
        </p:nvSpPr>
        <p:spPr>
          <a:xfrm>
            <a:off x="8183880" y="1572768"/>
            <a:ext cx="64008" cy="3291840"/>
          </a:xfrm>
          <a:prstGeom prst="rect">
            <a:avLst/>
          </a:prstGeom>
          <a:solidFill>
            <a:srgbClr val="7BC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Text 155"/>
          <p:cNvSpPr txBox="1"/>
          <p:nvPr/>
        </p:nvSpPr>
        <p:spPr>
          <a:xfrm>
            <a:off x="8385048" y="1709928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900" dirty="0" b="1">
                <a:solidFill>
                  <a:srgbClr val="7BCBFF"/>
                </a:solidFill>
                <a:latin typeface="Aptos"/>
                <a:cs typeface="Aptos"/>
              </a:rPr>
              <a:t>PRODUCTION</a:t>
            </a:r>
            <a:endParaRPr lang="ru-RU" sz="900" dirty="0"/>
          </a:p>
        </p:txBody>
      </p:sp>
      <p:sp>
        <p:nvSpPr>
          <p:cNvPr id="156" name="Text 156"/>
          <p:cNvSpPr txBox="1"/>
          <p:nvPr/>
        </p:nvSpPr>
        <p:spPr>
          <a:xfrm>
            <a:off x="8385048" y="2029968"/>
            <a:ext cx="3008376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700" dirty="0" b="1">
                <a:solidFill>
                  <a:srgbClr val="FFFFFF"/>
                </a:solidFill>
                <a:latin typeface="Aptos"/>
                <a:cs typeface="Aptos"/>
              </a:rPr>
              <a:t>Недооценивает edge cases</a:t>
            </a:r>
            <a:endParaRPr lang="ru-RU" sz="1700" dirty="0"/>
          </a:p>
        </p:txBody>
      </p:sp>
      <p:sp>
        <p:nvSpPr>
          <p:cNvPr id="157" name="Text 157"/>
          <p:cNvSpPr txBox="1"/>
          <p:nvPr/>
        </p:nvSpPr>
        <p:spPr>
          <a:xfrm>
            <a:off x="8385048" y="2505456"/>
            <a:ext cx="3008376" cy="226771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200" dirty="0">
                <a:solidFill>
                  <a:srgbClr val="B7C4D2"/>
                </a:solidFill>
                <a:latin typeface="Aptos"/>
                <a:cs typeface="Aptos"/>
              </a:rPr>
              <a:t>Внешний API может вернуть mmr как объект или число, candidate = 0, referee = null. Эти факты нужно записывать.</a:t>
            </a:r>
            <a:endParaRPr lang="ru-RU" sz="1200" dirty="0"/>
          </a:p>
        </p:txBody>
      </p:sp>
      <p:sp>
        <p:nvSpPr>
          <p:cNvPr id="158" name="Text 158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9/12</a:t>
            </a:r>
            <a:endParaRPr lang="ru-RU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60" name="Text 160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Качество: маленькие барьеры, часто</a:t>
            </a:r>
            <a:endParaRPr lang="ru-RU" sz="2900" dirty="0"/>
          </a:p>
        </p:txBody>
      </p:sp>
      <p:sp>
        <p:nvSpPr>
          <p:cNvPr id="161" name="Text 161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Проверки встроены в обычный цикл разработки</a:t>
            </a:r>
            <a:endParaRPr lang="ru-RU" sz="1300" dirty="0"/>
          </a:p>
        </p:txBody>
      </p:sp>
      <p:sp>
        <p:nvSpPr>
          <p:cNvPr id="162" name="Shape 162"/>
          <p:cNvSpPr/>
          <p:nvPr/>
        </p:nvSpPr>
        <p:spPr>
          <a:xfrm>
            <a:off x="1005840" y="1600200"/>
            <a:ext cx="4389120" cy="3794760"/>
          </a:xfrm>
          <a:prstGeom prst="roundRect">
            <a:avLst/>
          </a:prstGeom>
          <a:solidFill>
            <a:srgbClr val="17232E"/>
          </a:solidFill>
          <a:ln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163" name="Text 163"/>
          <p:cNvSpPr txBox="1"/>
          <p:nvPr/>
        </p:nvSpPr>
        <p:spPr>
          <a:xfrm>
            <a:off x="1325880" y="19202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FFFFFF"/>
                </a:solidFill>
                <a:latin typeface="Aptos"/>
                <a:cs typeface="Aptos"/>
              </a:rPr>
              <a:t>Фокусные проверки</a:t>
            </a:r>
            <a:endParaRPr lang="ru-RU" sz="2400" dirty="0"/>
          </a:p>
        </p:txBody>
      </p:sp>
      <p:sp>
        <p:nvSpPr>
          <p:cNvPr id="164" name="Text 164"/>
          <p:cNvSpPr txBox="1"/>
          <p:nvPr/>
        </p:nvSpPr>
        <p:spPr>
          <a:xfrm>
            <a:off x="1417320" y="2578608"/>
            <a:ext cx="3429000" cy="2103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Backend compile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Targeted backend tests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TMA npm run build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Admin npm run build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./scripts/codex-check.sh quick</a:t>
            </a:r>
            <a:endParaRPr lang="ru-RU" sz="1800" dirty="0"/>
          </a:p>
        </p:txBody>
      </p:sp>
      <p:sp>
        <p:nvSpPr>
          <p:cNvPr id="165" name="Shape 165"/>
          <p:cNvSpPr/>
          <p:nvPr/>
        </p:nvSpPr>
        <p:spPr>
          <a:xfrm>
            <a:off x="6537960" y="1600200"/>
            <a:ext cx="4389120" cy="3794760"/>
          </a:xfrm>
          <a:prstGeom prst="roundRect">
            <a:avLst/>
          </a:prstGeom>
          <a:solidFill>
            <a:srgbClr val="17232E"/>
          </a:solidFill>
          <a:ln>
            <a:solidFill>
              <a:srgbClr val="F7D36B"/>
            </a:solidFill>
          </a:ln>
        </p:spPr>
        <p:txBody>
          <a:bodyPr/>
          <a:lstStyle/>
          <a:p/>
        </p:txBody>
      </p:sp>
      <p:sp>
        <p:nvSpPr>
          <p:cNvPr id="166" name="Text 166"/>
          <p:cNvSpPr txBox="1"/>
          <p:nvPr/>
        </p:nvSpPr>
        <p:spPr>
          <a:xfrm>
            <a:off x="6858000" y="19202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400" dirty="0" b="1">
                <a:solidFill>
                  <a:srgbClr val="FFFFFF"/>
                </a:solidFill>
                <a:latin typeface="Aptos"/>
                <a:cs typeface="Aptos"/>
              </a:rPr>
              <a:t>Ограничители риска</a:t>
            </a:r>
            <a:endParaRPr lang="ru-RU" sz="2400" dirty="0"/>
          </a:p>
        </p:txBody>
      </p:sp>
      <p:sp>
        <p:nvSpPr>
          <p:cNvPr id="167" name="Text 167"/>
          <p:cNvSpPr txBox="1"/>
          <p:nvPr/>
        </p:nvSpPr>
        <p:spPr>
          <a:xfrm>
            <a:off x="6949440" y="2578608"/>
            <a:ext cx="3429000" cy="21031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Не трогать user changes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Не держать HTTP внутри DB transaction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Санкции и деньги проверять отдельно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После feature менять memory-bank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Prod DB только readonly skill</a:t>
            </a:r>
            <a:endParaRPr lang="ru-RU" sz="1800" dirty="0"/>
          </a:p>
        </p:txBody>
      </p:sp>
      <p:sp>
        <p:nvSpPr>
          <p:cNvPr id="168" name="Text 168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10/12</a:t>
            </a:r>
            <a:endParaRPr lang="ru-RU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70" name="Text 170"/>
          <p:cNvSpPr txBox="1"/>
          <p:nvPr/>
        </p:nvSpPr>
        <p:spPr>
          <a:xfrm>
            <a:off x="594360" y="347472"/>
            <a:ext cx="850392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2900" dirty="0" b="1">
                <a:solidFill>
                  <a:srgbClr val="F5F7FA"/>
                </a:solidFill>
                <a:latin typeface="Aptos"/>
                <a:cs typeface="Aptos"/>
              </a:rPr>
              <a:t>Практические правила AI-native проекта</a:t>
            </a:r>
            <a:endParaRPr lang="ru-RU" sz="2900" dirty="0"/>
          </a:p>
        </p:txBody>
      </p:sp>
      <p:sp>
        <p:nvSpPr>
          <p:cNvPr id="171" name="Text 171"/>
          <p:cNvSpPr txBox="1"/>
          <p:nvPr/>
        </p:nvSpPr>
        <p:spPr>
          <a:xfrm>
            <a:off x="621792" y="96012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300" dirty="0">
                <a:solidFill>
                  <a:srgbClr val="9DB0C3"/>
                </a:solidFill>
                <a:latin typeface="Aptos"/>
                <a:cs typeface="Aptos"/>
              </a:rPr>
              <a:t>То, что можно переиспользовать в другой кодовой базе</a:t>
            </a:r>
            <a:endParaRPr lang="ru-RU" sz="1300" dirty="0"/>
          </a:p>
        </p:txBody>
      </p:sp>
      <p:sp>
        <p:nvSpPr>
          <p:cNvPr id="172" name="Text 172"/>
          <p:cNvSpPr txBox="1"/>
          <p:nvPr/>
        </p:nvSpPr>
        <p:spPr>
          <a:xfrm>
            <a:off x="777240" y="1600200"/>
            <a:ext cx="6492240" cy="434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Напишите AGENTS.md как инженерный контракт, а не как “подсказки для бота”.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Ведите memory-bank: активный контекст, прогресс, системные паттерны, техконтекст.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Создайте глоссарий домена и заставьте AI им пользоваться.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Делайте feature discovery для больших задач до имплементации.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Фиксируйте production-инсайты рядом с кодом, иначе агент будет проектировать воображаемый продукт.</a:t>
            </a:r>
            <a:endParaRPr lang="ru-RU" sz="1800" dirty="0"/>
          </a:p>
          <a:p>
            <a:pPr algn="l"/>
            <a:r>
              <a:rPr lang="ru-RU" sz="1800" dirty="0">
                <a:solidFill>
                  <a:srgbClr val="E8EEF5"/>
                </a:solidFill>
                <a:latin typeface="Aptos"/>
                <a:cs typeface="Aptos"/>
              </a:rPr>
              <a:t>• Дайте агенту быстрый проверочный entrypoint и требуйте его перед handoff.</a:t>
            </a:r>
            <a:endParaRPr lang="ru-RU" sz="1800" dirty="0"/>
          </a:p>
        </p:txBody>
      </p:sp>
      <p:sp>
        <p:nvSpPr>
          <p:cNvPr id="173" name="Shape 173"/>
          <p:cNvSpPr/>
          <p:nvPr/>
        </p:nvSpPr>
        <p:spPr>
          <a:xfrm>
            <a:off x="7955280" y="1783080"/>
            <a:ext cx="2971800" cy="3520440"/>
          </a:xfrm>
          <a:prstGeom prst="roundRect">
            <a:avLst/>
          </a:prstGeom>
          <a:solidFill>
            <a:srgbClr val="102A2A"/>
          </a:solidFill>
          <a:ln>
            <a:solidFill>
              <a:srgbClr val="46E8A8"/>
            </a:solidFill>
          </a:ln>
        </p:spPr>
        <p:txBody>
          <a:bodyPr/>
          <a:lstStyle/>
          <a:p/>
        </p:txBody>
      </p:sp>
      <p:sp>
        <p:nvSpPr>
          <p:cNvPr id="174" name="Text 174"/>
          <p:cNvSpPr txBox="1"/>
          <p:nvPr/>
        </p:nvSpPr>
        <p:spPr>
          <a:xfrm>
            <a:off x="8275320" y="214884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900" dirty="0" b="1">
                <a:solidFill>
                  <a:srgbClr val="46E8A8"/>
                </a:solidFill>
                <a:latin typeface="Aptos"/>
                <a:cs typeface="Aptos"/>
              </a:rPr>
              <a:t>AI-native =
readable для AI</a:t>
            </a:r>
            <a:endParaRPr lang="ru-RU" sz="2900" dirty="0"/>
          </a:p>
        </p:txBody>
      </p:sp>
      <p:sp>
        <p:nvSpPr>
          <p:cNvPr id="175" name="Text 175"/>
          <p:cNvSpPr txBox="1"/>
          <p:nvPr/>
        </p:nvSpPr>
        <p:spPr>
          <a:xfrm>
            <a:off x="8211312" y="3657600"/>
            <a:ext cx="2468880" cy="71323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200" dirty="0" b="1">
                <a:solidFill>
                  <a:srgbClr val="FFFFFF"/>
                </a:solidFill>
                <a:latin typeface="Aptos"/>
                <a:cs typeface="Aptos"/>
              </a:rPr>
              <a:t>и проверяемый для человека</a:t>
            </a:r>
            <a:endParaRPr lang="ru-RU" sz="2200" dirty="0"/>
          </a:p>
        </p:txBody>
      </p:sp>
      <p:sp>
        <p:nvSpPr>
          <p:cNvPr id="176" name="Text 176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11/12</a:t>
            </a:r>
            <a:endParaRPr lang="ru-RU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solidFill>
              <a:srgbClr val="101820"/>
            </a:solidFill>
          </a:ln>
        </p:spPr>
        <p:txBody>
          <a:bodyPr/>
          <a:lstStyle/>
          <a:p/>
        </p:txBody>
      </p:sp>
      <p:sp>
        <p:nvSpPr>
          <p:cNvPr id="178" name="Text 178"/>
          <p:cNvSpPr txBox="1"/>
          <p:nvPr/>
        </p:nvSpPr>
        <p:spPr>
          <a:xfrm>
            <a:off x="1051560" y="1234440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4200" dirty="0" b="1">
                <a:solidFill>
                  <a:srgbClr val="FFFFFF"/>
                </a:solidFill>
                <a:latin typeface="Aptos"/>
                <a:cs typeface="Aptos"/>
              </a:rPr>
              <a:t>Главный вывод</a:t>
            </a:r>
            <a:endParaRPr lang="ru-RU" sz="4200" dirty="0"/>
          </a:p>
        </p:txBody>
      </p:sp>
      <p:sp>
        <p:nvSpPr>
          <p:cNvPr id="179" name="Text 179"/>
          <p:cNvSpPr txBox="1"/>
          <p:nvPr/>
        </p:nvSpPr>
        <p:spPr>
          <a:xfrm>
            <a:off x="1463040" y="2514600"/>
            <a:ext cx="9144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800" dirty="0" b="1">
                <a:solidFill>
                  <a:srgbClr val="46E8A8"/>
                </a:solidFill>
                <a:latin typeface="Aptos"/>
                <a:cs typeface="Aptos"/>
              </a:rPr>
              <a:t>AI-native проект — это не проект без инженера. Это проект, где инженерная система достаточно явная, чтобы AI мог безопасно участвовать в ней каждый день.</a:t>
            </a:r>
            <a:endParaRPr lang="ru-RU" sz="2800" dirty="0"/>
          </a:p>
        </p:txBody>
      </p:sp>
      <p:sp>
        <p:nvSpPr>
          <p:cNvPr id="180" name="Text 180"/>
          <p:cNvSpPr txBox="1"/>
          <p:nvPr/>
        </p:nvSpPr>
        <p:spPr>
          <a:xfrm>
            <a:off x="2011680" y="461772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c"/>
            <a:r>
              <a:rPr lang="ru-RU" sz="2000" dirty="0">
                <a:solidFill>
                  <a:srgbClr val="DDE7F0"/>
                </a:solidFill>
                <a:latin typeface="Aptos"/>
                <a:cs typeface="Aptos"/>
              </a:rPr>
              <a:t>Контекст → инварианты → маленькие vertical slices → проверки → память</a:t>
            </a:r>
            <a:endParaRPr lang="ru-RU" sz="2000" dirty="0"/>
          </a:p>
        </p:txBody>
      </p:sp>
      <p:sp>
        <p:nvSpPr>
          <p:cNvPr id="181" name="Text 181"/>
          <p:cNvSpPr txBox="1"/>
          <p:nvPr/>
        </p:nvSpPr>
        <p:spPr>
          <a:xfrm>
            <a:off x="10195560" y="6455664"/>
            <a:ext cx="1051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45720" bIns="45720">
            <a:normAutofit/>
          </a:bodyPr>
          <a:lstStyle/>
          <a:p>
            <a:pPr algn="r"/>
            <a:r>
              <a:rPr lang="ru-RU" sz="900" dirty="0">
                <a:solidFill>
                  <a:srgbClr val="7B8A9A"/>
                </a:solidFill>
                <a:latin typeface="Aptos"/>
                <a:cs typeface="Aptos"/>
              </a:rPr>
              <a:t>12/12</a:t>
            </a:r>
            <a:endParaRPr lang="ru-RU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emica">
  <a:themeElements>
    <a:clrScheme name="Polemica">
      <a:dk1>
        <a:srgbClr val="101820"/>
      </a:dk1>
      <a:lt1>
        <a:srgbClr val="FFFFFF"/>
      </a:lt1>
      <a:dk2>
        <a:srgbClr val="17232E"/>
      </a:dk2>
      <a:lt2>
        <a:srgbClr val="DDE7F0"/>
      </a:lt2>
      <a:accent1>
        <a:srgbClr val="46E8A8"/>
      </a:accent1>
      <a:accent2>
        <a:srgbClr val="7BCBFF"/>
      </a:accent2>
      <a:accent3>
        <a:srgbClr val="F7D36B"/>
      </a:accent3>
      <a:accent4>
        <a:srgbClr val="C971FF"/>
      </a:accent4>
      <a:accent5>
        <a:srgbClr val="FF7A7A"/>
      </a:accent5>
      <a:accent6>
        <a:srgbClr val="9DB0C3"/>
      </a:accent6>
      <a:hlink>
        <a:srgbClr val="7BCBFF"/>
      </a:hlink>
      <a:folHlink>
        <a:srgbClr val="C971F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olemic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Polemica Fantasy: AI-native product story</dc:title>
  <dc:creator>Codex</dc:creator>
  <cp:lastModifiedBy>Codex</cp:lastModifiedBy>
  <dcterms:created xsi:type="dcterms:W3CDTF">2026-06-03T00:00:00Z</dcterms:created>
  <dcterms:modified xsi:type="dcterms:W3CDTF">2026-06-03T00:00:00Z</dcterms:modified>
</cp:coreProperties>
</file>