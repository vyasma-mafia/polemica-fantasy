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oduct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user_metrics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 w="12700">
            <a:solidFill>
              <a:srgbClr val="0C1117"/>
            </a:solidFill>
          </a:ln>
        </p:spPr>
        <p:txBody>
          <a:bodyPr/>
          <a:lstStyle/>
          <a:p/>
        </p:txBody>
      </p:sp>
      <p:pic>
        <p:nvPicPr>
          <p:cNvPr id="3" name="Polemica Fantasy m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84048"/>
            <a:ext cx="6217920" cy="352044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0" y="4553712"/>
            <a:ext cx="12191695" cy="2304288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658368" y="1234440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4400" dirty="0" b="1">
                <a:solidFill>
                  <a:srgbClr val="FFFFFF"/>
                </a:solidFill>
                <a:latin typeface="Aptos"/>
                <a:cs typeface="Aptos"/>
              </a:rPr>
              <a:t>Polemica Fantasy</a:t>
            </a:r>
            <a:endParaRPr lang="ru-RU" sz="4400" dirty="0"/>
          </a:p>
        </p:txBody>
      </p:sp>
      <p:sp>
        <p:nvSpPr>
          <p:cNvPr id="6" name="Text 6"/>
          <p:cNvSpPr txBox="1"/>
          <p:nvPr/>
        </p:nvSpPr>
        <p:spPr>
          <a:xfrm>
            <a:off x="713232" y="2395728"/>
            <a:ext cx="443484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200" dirty="0" b="1">
                <a:solidFill>
                  <a:srgbClr val="46E8A8"/>
                </a:solidFill>
                <a:latin typeface="Aptos"/>
                <a:cs typeface="Aptos"/>
              </a:rPr>
              <a:t>AI-native разработка живого продукта</a:t>
            </a:r>
            <a:endParaRPr lang="ru-RU" sz="2200" dirty="0"/>
          </a:p>
        </p:txBody>
      </p:sp>
      <p:sp>
        <p:nvSpPr>
          <p:cNvPr id="7" name="Text 7"/>
          <p:cNvSpPr txBox="1"/>
          <p:nvPr/>
        </p:nvSpPr>
        <p:spPr>
          <a:xfrm>
            <a:off x="713232" y="4956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400" dirty="0" b="1">
                <a:solidFill>
                  <a:srgbClr val="F7FAFC"/>
                </a:solidFill>
                <a:latin typeface="Aptos"/>
                <a:cs typeface="Aptos"/>
              </a:rPr>
              <a:t>Не “AI написал код”, а система, где AI работает с продуктовым контекстом, памятью и проверками.</a:t>
            </a:r>
            <a:endParaRPr lang="ru-RU" sz="2400" dirty="0"/>
          </a:p>
        </p:txBody>
      </p:sp>
      <p:sp>
        <p:nvSpPr>
          <p:cNvPr id="8" name="Text 8"/>
          <p:cNvSpPr txBox="1"/>
          <p:nvPr/>
        </p:nvSpPr>
        <p:spPr>
          <a:xfrm>
            <a:off x="749808" y="5715000"/>
            <a:ext cx="89611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500" dirty="0">
                <a:solidFill>
                  <a:srgbClr val="9DB0C3"/>
                </a:solidFill>
                <a:latin typeface="Aptos"/>
                <a:cs typeface="Aptos"/>
              </a:rPr>
              <a:t>Краткий рассказ: домен → инструменты → инсайты для AI-разработки</a:t>
            </a:r>
            <a:endParaRPr lang="ru-RU" sz="1500" dirty="0"/>
          </a:p>
        </p:txBody>
      </p:sp>
      <p:sp>
        <p:nvSpPr>
          <p:cNvPr id="9" name="Text 9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1/9</a:t>
            </a:r>
            <a:endParaRPr lang="ru-RU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66928" y="32004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000" dirty="0" b="1">
                <a:solidFill>
                  <a:srgbClr val="F7FAFC"/>
                </a:solidFill>
                <a:latin typeface="Aptos"/>
                <a:cs typeface="Aptos"/>
              </a:rPr>
              <a:t>1. Контекст: мафия как fantasy-домен</a:t>
            </a:r>
            <a:endParaRPr lang="ru-RU" sz="3000" dirty="0"/>
          </a:p>
        </p:txBody>
      </p:sp>
      <p:sp>
        <p:nvSpPr>
          <p:cNvPr id="12" name="Text 12"/>
          <p:cNvSpPr txBox="1"/>
          <p:nvPr/>
        </p:nvSpPr>
        <p:spPr>
          <a:xfrm>
            <a:off x="594360" y="868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9DB0C3"/>
                </a:solidFill>
                <a:latin typeface="Aptos"/>
                <a:cs typeface="Aptos"/>
              </a:rPr>
              <a:t>Реальные игры Polemica превращаются в игровые события Polemica Fantasy</a:t>
            </a:r>
            <a:endParaRPr lang="ru-RU" sz="1200" dirty="0"/>
          </a:p>
        </p:txBody>
      </p:sp>
      <p:sp>
        <p:nvSpPr>
          <p:cNvPr id="13" name="Shape 13"/>
          <p:cNvSpPr/>
          <p:nvPr/>
        </p:nvSpPr>
        <p:spPr>
          <a:xfrm>
            <a:off x="658368" y="1508760"/>
            <a:ext cx="3337560" cy="141732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58368" y="1508760"/>
            <a:ext cx="64008" cy="141732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68680" y="170992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Спортивная мафия</a:t>
            </a:r>
            <a:endParaRPr lang="ru-RU" sz="1700" dirty="0"/>
          </a:p>
        </p:txBody>
      </p:sp>
      <p:sp>
        <p:nvSpPr>
          <p:cNvPr id="16" name="Text 16"/>
          <p:cNvSpPr txBox="1"/>
          <p:nvPr/>
        </p:nvSpPr>
        <p:spPr>
          <a:xfrm>
            <a:off x="868680" y="2167128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Есть реальные игроки, роли, столы, серии игр и результаты.</a:t>
            </a:r>
            <a:endParaRPr lang="ru-RU" sz="1200" dirty="0"/>
          </a:p>
        </p:txBody>
      </p:sp>
      <p:sp>
        <p:nvSpPr>
          <p:cNvPr id="17" name="Shape 17"/>
          <p:cNvSpPr/>
          <p:nvPr/>
        </p:nvSpPr>
        <p:spPr>
          <a:xfrm>
            <a:off x="4407408" y="1508760"/>
            <a:ext cx="3337560" cy="141732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4407408" y="1508760"/>
            <a:ext cx="64008" cy="141732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617720" y="170992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Fantasy-слой</a:t>
            </a:r>
            <a:endParaRPr lang="ru-RU" sz="1700" dirty="0"/>
          </a:p>
        </p:txBody>
      </p:sp>
      <p:sp>
        <p:nvSpPr>
          <p:cNvPr id="20" name="Text 20"/>
          <p:cNvSpPr txBox="1"/>
          <p:nvPr/>
        </p:nvSpPr>
        <p:spPr>
          <a:xfrm>
            <a:off x="4617720" y="2167128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Пользователь собирает команду из 1-3 карт реальных игроков.</a:t>
            </a:r>
            <a:endParaRPr lang="ru-RU" sz="1200" dirty="0"/>
          </a:p>
        </p:txBody>
      </p:sp>
      <p:sp>
        <p:nvSpPr>
          <p:cNvPr id="21" name="Shape 21"/>
          <p:cNvSpPr/>
          <p:nvPr/>
        </p:nvSpPr>
        <p:spPr>
          <a:xfrm>
            <a:off x="8156448" y="1508760"/>
            <a:ext cx="3337560" cy="141732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156448" y="1508760"/>
            <a:ext cx="64008" cy="1417320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366760" y="170992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Экономика</a:t>
            </a:r>
            <a:endParaRPr lang="ru-RU" sz="1700" dirty="0"/>
          </a:p>
        </p:txBody>
      </p:sp>
      <p:sp>
        <p:nvSpPr>
          <p:cNvPr id="24" name="Text 24"/>
          <p:cNvSpPr txBox="1"/>
          <p:nvPr/>
        </p:nvSpPr>
        <p:spPr>
          <a:xfrm>
            <a:off x="8366760" y="2167128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Фантики, паки, контракты карт, marketplace и награды серий.</a:t>
            </a:r>
            <a:endParaRPr lang="ru-RU" sz="1200" dirty="0"/>
          </a:p>
        </p:txBody>
      </p:sp>
      <p:sp>
        <p:nvSpPr>
          <p:cNvPr id="25" name="Shape 25"/>
          <p:cNvSpPr/>
          <p:nvPr/>
        </p:nvSpPr>
        <p:spPr>
          <a:xfrm>
            <a:off x="1234440" y="3767328"/>
            <a:ext cx="1920240" cy="685800"/>
          </a:xfrm>
          <a:prstGeom prst="roundRect">
            <a:avLst/>
          </a:prstGeom>
          <a:solidFill>
            <a:srgbClr val="16232A"/>
          </a:solidFill>
          <a:ln w="12700"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1417320" y="39593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FFFFFF"/>
                </a:solidFill>
                <a:latin typeface="Aptos"/>
                <a:cs typeface="Aptos"/>
              </a:rPr>
              <a:t>Polemica game</a:t>
            </a:r>
            <a:endParaRPr lang="ru-RU" sz="1500" dirty="0"/>
          </a:p>
        </p:txBody>
      </p:sp>
      <p:cxnSp>
        <p:nvCxnSpPr>
          <p:cNvPr id="27" name="Line 27"/>
          <p:cNvCxnSpPr/>
          <p:nvPr/>
        </p:nvCxnSpPr>
        <p:spPr>
          <a:xfrm>
            <a:off x="3154680" y="4114800"/>
            <a:ext cx="914400" cy="9144"/>
          </a:xfrm>
          <a:prstGeom prst="line">
            <a:avLst/>
          </a:prstGeom>
          <a:ln w="25400">
            <a:solidFill>
              <a:srgbClr val="46E8A8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4069080" y="3767328"/>
            <a:ext cx="1920240" cy="685800"/>
          </a:xfrm>
          <a:prstGeom prst="roundRect">
            <a:avLst/>
          </a:prstGeom>
          <a:solidFill>
            <a:srgbClr val="16232A"/>
          </a:solidFill>
          <a:ln w="12700">
            <a:solidFill>
              <a:srgbClr val="7BCBFF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4261104" y="3959352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FFFFFF"/>
                </a:solidFill>
                <a:latin typeface="Aptos"/>
                <a:cs typeface="Aptos"/>
              </a:rPr>
              <a:t>Scoring</a:t>
            </a:r>
            <a:endParaRPr lang="ru-RU" sz="1500" dirty="0"/>
          </a:p>
        </p:txBody>
      </p:sp>
      <p:cxnSp>
        <p:nvCxnSpPr>
          <p:cNvPr id="30" name="Line 30"/>
          <p:cNvCxnSpPr/>
          <p:nvPr/>
        </p:nvCxnSpPr>
        <p:spPr>
          <a:xfrm>
            <a:off x="5989320" y="4114800"/>
            <a:ext cx="914400" cy="9144"/>
          </a:xfrm>
          <a:prstGeom prst="line">
            <a:avLst/>
          </a:prstGeom>
          <a:ln w="25400">
            <a:solidFill>
              <a:srgbClr val="7BCBFF"/>
            </a:solidFill>
          </a:ln>
        </p:spPr>
      </p:cxnSp>
      <p:sp>
        <p:nvSpPr>
          <p:cNvPr id="31" name="Shape 31"/>
          <p:cNvSpPr/>
          <p:nvPr/>
        </p:nvSpPr>
        <p:spPr>
          <a:xfrm>
            <a:off x="6903720" y="3767328"/>
            <a:ext cx="1920240" cy="685800"/>
          </a:xfrm>
          <a:prstGeom prst="roundRect">
            <a:avLst/>
          </a:prstGeom>
          <a:solidFill>
            <a:srgbClr val="16232A"/>
          </a:solidFill>
          <a:ln w="12700">
            <a:solidFill>
              <a:srgbClr val="F7D36B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7077456" y="395935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FFFFFF"/>
                </a:solidFill>
                <a:latin typeface="Aptos"/>
                <a:cs typeface="Aptos"/>
              </a:rPr>
              <a:t>Leaderboard</a:t>
            </a:r>
            <a:endParaRPr lang="ru-RU" sz="1500" dirty="0"/>
          </a:p>
        </p:txBody>
      </p:sp>
      <p:cxnSp>
        <p:nvCxnSpPr>
          <p:cNvPr id="33" name="Line 33"/>
          <p:cNvCxnSpPr/>
          <p:nvPr/>
        </p:nvCxnSpPr>
        <p:spPr>
          <a:xfrm>
            <a:off x="8823960" y="4114800"/>
            <a:ext cx="914400" cy="9144"/>
          </a:xfrm>
          <a:prstGeom prst="line">
            <a:avLst/>
          </a:prstGeom>
          <a:ln w="25400">
            <a:solidFill>
              <a:srgbClr val="F7D36B"/>
            </a:solidFill>
          </a:ln>
        </p:spPr>
      </p:cxnSp>
      <p:sp>
        <p:nvSpPr>
          <p:cNvPr id="34" name="Shape 34"/>
          <p:cNvSpPr/>
          <p:nvPr/>
        </p:nvSpPr>
        <p:spPr>
          <a:xfrm>
            <a:off x="9738360" y="3767328"/>
            <a:ext cx="1417320" cy="685800"/>
          </a:xfrm>
          <a:prstGeom prst="roundRect">
            <a:avLst/>
          </a:prstGeom>
          <a:solidFill>
            <a:srgbClr val="16232A"/>
          </a:solidFill>
          <a:ln w="12700"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9866376" y="39593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FFFFFF"/>
                </a:solidFill>
                <a:latin typeface="Aptos"/>
                <a:cs typeface="Aptos"/>
              </a:rPr>
              <a:t>Rewards</a:t>
            </a:r>
            <a:endParaRPr lang="ru-RU" sz="1500" dirty="0"/>
          </a:p>
        </p:txBody>
      </p:sp>
      <p:sp>
        <p:nvSpPr>
          <p:cNvPr id="36" name="Text 36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2/9</a:t>
            </a:r>
            <a:endParaRPr lang="ru-RU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566928" y="32004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000" dirty="0" b="1">
                <a:solidFill>
                  <a:srgbClr val="F7FAFC"/>
                </a:solidFill>
                <a:latin typeface="Aptos"/>
                <a:cs typeface="Aptos"/>
              </a:rPr>
              <a:t>Архитектура: достаточно простая, чтобы AI держал ее в голове</a:t>
            </a:r>
            <a:endParaRPr lang="ru-RU" sz="3000" dirty="0"/>
          </a:p>
        </p:txBody>
      </p:sp>
      <p:sp>
        <p:nvSpPr>
          <p:cNvPr id="39" name="Text 39"/>
          <p:cNvSpPr txBox="1"/>
          <p:nvPr/>
        </p:nvSpPr>
        <p:spPr>
          <a:xfrm>
            <a:off x="594360" y="868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9DB0C3"/>
                </a:solidFill>
                <a:latin typeface="Aptos"/>
                <a:cs typeface="Aptos"/>
              </a:rPr>
              <a:t>Монолит + две SPA + внешняя Polemica-интеграция</a:t>
            </a:r>
            <a:endParaRPr lang="ru-RU" sz="1200" dirty="0"/>
          </a:p>
        </p:txBody>
      </p:sp>
      <p:sp>
        <p:nvSpPr>
          <p:cNvPr id="40" name="Shape 40"/>
          <p:cNvSpPr/>
          <p:nvPr/>
        </p:nvSpPr>
        <p:spPr>
          <a:xfrm>
            <a:off x="713232" y="1417320"/>
            <a:ext cx="5577840" cy="4315968"/>
          </a:xfrm>
          <a:prstGeom prst="roundRect">
            <a:avLst/>
          </a:prstGeom>
          <a:solidFill>
            <a:srgbClr val="0B1218"/>
          </a:solidFill>
          <a:ln w="12700">
            <a:solidFill>
              <a:srgbClr val="2B3C4A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859536" y="1554480"/>
            <a:ext cx="5285232" cy="40873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normAutofit/>
          </a:bodyPr>
          <a:lstStyle/>
          <a:p>
            <a:pPr algn="l"/>
            <a:r>
              <a:rPr lang="ru-RU" sz="1200" dirty="0">
                <a:solidFill>
                  <a:srgbClr val="C8F7DC"/>
                </a:solidFill>
                <a:latin typeface="Menlo"/>
                <a:cs typeface="Menlo"/>
              </a:rPr>
              <a:t>graph LR
  TMA[Telegram Mini App] --&gt; API[Spring Boot API]
  Admin[Admin SPA] --&gt; API
  API --&gt; PG[(PostgreSQL + Flyway)]
  API --&gt; Polemica[Polemica API]
  API --&gt; Bot[Telegram Bot API]
  API --&gt; S3[(S3 images)]
  subgraph Backend
    Controller --&gt; Service --&gt; Repository
    Service --&gt; Scoring
    Service --&gt; Events
  end</a:t>
            </a:r>
            <a:endParaRPr lang="ru-RU" sz="1200" dirty="0"/>
          </a:p>
        </p:txBody>
      </p:sp>
      <p:sp>
        <p:nvSpPr>
          <p:cNvPr id="42" name="Text 42"/>
          <p:cNvSpPr txBox="1"/>
          <p:nvPr/>
        </p:nvSpPr>
        <p:spPr>
          <a:xfrm>
            <a:off x="6629400" y="1600200"/>
            <a:ext cx="4434840" cy="2834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Контроллеры работают с DTO, entity не уходит наружу.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HTTP к Polemica не держится внутри длинной DB-транзакции.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События и уведомления уходят после commit.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Flyway делает структуру данных явной для AI и человека.</a:t>
            </a:r>
            <a:endParaRPr lang="ru-RU" sz="1800" dirty="0"/>
          </a:p>
        </p:txBody>
      </p:sp>
      <p:sp>
        <p:nvSpPr>
          <p:cNvPr id="43" name="Text 43"/>
          <p:cNvSpPr txBox="1"/>
          <p:nvPr/>
        </p:nvSpPr>
        <p:spPr>
          <a:xfrm>
            <a:off x="6629400" y="48006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000" dirty="0" b="1">
                <a:solidFill>
                  <a:srgbClr val="46E8A8"/>
                </a:solidFill>
                <a:latin typeface="Aptos"/>
                <a:cs typeface="Aptos"/>
              </a:rPr>
              <a:t>Главное: архитектура не “идеальная”, а читаемая и проверяемая.</a:t>
            </a:r>
            <a:endParaRPr lang="ru-RU" sz="2000" dirty="0"/>
          </a:p>
        </p:txBody>
      </p:sp>
      <p:sp>
        <p:nvSpPr>
          <p:cNvPr id="44" name="Text 44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3/9</a:t>
            </a:r>
            <a:endParaRPr lang="ru-RU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/>
          <a:lstStyle/>
          <a:p/>
        </p:txBody>
      </p:sp>
      <p:pic>
        <p:nvPicPr>
          <p:cNvPr id="46" name="User metrics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1567160" cy="5650992"/>
          </a:xfrm>
          <a:prstGeom prst="rect">
            <a:avLst/>
          </a:prstGeom>
        </p:spPr>
      </p:pic>
      <p:sp>
        <p:nvSpPr>
          <p:cNvPr id="47" name="Text 47"/>
          <p:cNvSpPr txBox="1"/>
          <p:nvPr/>
        </p:nvSpPr>
        <p:spPr>
          <a:xfrm>
            <a:off x="640080" y="61264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600" dirty="0" b="1">
                <a:solidFill>
                  <a:srgbClr val="243040"/>
                </a:solidFill>
                <a:latin typeface="Aptos"/>
                <a:cs typeface="Aptos"/>
              </a:rPr>
              <a:t>Production уже дает реальные продуктовые сигналы: рост, активность, окна входа, точки удержания.</a:t>
            </a:r>
            <a:endParaRPr lang="ru-RU" sz="1600" dirty="0"/>
          </a:p>
        </p:txBody>
      </p:sp>
      <p:sp>
        <p:nvSpPr>
          <p:cNvPr id="48" name="Text 48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4/9</a:t>
            </a:r>
            <a:endParaRPr lang="ru-RU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566928" y="32004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000" dirty="0" b="1">
                <a:solidFill>
                  <a:srgbClr val="F7FAFC"/>
                </a:solidFill>
                <a:latin typeface="Aptos"/>
                <a:cs typeface="Aptos"/>
              </a:rPr>
              <a:t>2. Инструменты: что делает AI-разработку повторяемой</a:t>
            </a:r>
            <a:endParaRPr lang="ru-RU" sz="3000" dirty="0"/>
          </a:p>
        </p:txBody>
      </p:sp>
      <p:sp>
        <p:nvSpPr>
          <p:cNvPr id="51" name="Text 51"/>
          <p:cNvSpPr txBox="1"/>
          <p:nvPr/>
        </p:nvSpPr>
        <p:spPr>
          <a:xfrm>
            <a:off x="594360" y="868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9DB0C3"/>
                </a:solidFill>
                <a:latin typeface="Aptos"/>
                <a:cs typeface="Aptos"/>
              </a:rPr>
              <a:t>AGENTS.md и memory-bank важнее единичного “сильного промпта”</a:t>
            </a:r>
            <a:endParaRPr lang="ru-RU" sz="1200" dirty="0"/>
          </a:p>
        </p:txBody>
      </p:sp>
      <p:sp>
        <p:nvSpPr>
          <p:cNvPr id="52" name="Shape 52"/>
          <p:cNvSpPr/>
          <p:nvPr/>
        </p:nvSpPr>
        <p:spPr>
          <a:xfrm>
            <a:off x="4251960" y="2084832"/>
            <a:ext cx="3566160" cy="1234440"/>
          </a:xfrm>
          <a:prstGeom prst="roundRect">
            <a:avLst/>
          </a:prstGeom>
          <a:solidFill>
            <a:srgbClr val="102A2A"/>
          </a:solidFill>
          <a:ln w="12700"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4572000" y="2487168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600" dirty="0" b="1">
                <a:solidFill>
                  <a:srgbClr val="46E8A8"/>
                </a:solidFill>
                <a:latin typeface="Aptos"/>
                <a:cs typeface="Aptos"/>
              </a:rPr>
              <a:t>AI agent</a:t>
            </a:r>
            <a:endParaRPr lang="ru-RU" sz="2600" dirty="0"/>
          </a:p>
        </p:txBody>
      </p:sp>
      <p:sp>
        <p:nvSpPr>
          <p:cNvPr id="54" name="Shape 54"/>
          <p:cNvSpPr/>
          <p:nvPr/>
        </p:nvSpPr>
        <p:spPr>
          <a:xfrm>
            <a:off x="713232" y="1325880"/>
            <a:ext cx="2971800" cy="1170432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55" name="Shape 55"/>
          <p:cNvSpPr/>
          <p:nvPr/>
        </p:nvSpPr>
        <p:spPr>
          <a:xfrm>
            <a:off x="713232" y="1325880"/>
            <a:ext cx="64008" cy="1170432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923544" y="152704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AGENTS.md</a:t>
            </a:r>
            <a:endParaRPr lang="ru-RU" sz="1700" dirty="0"/>
          </a:p>
        </p:txBody>
      </p:sp>
      <p:sp>
        <p:nvSpPr>
          <p:cNvPr id="57" name="Text 57"/>
          <p:cNvSpPr txBox="1"/>
          <p:nvPr/>
        </p:nvSpPr>
        <p:spPr>
          <a:xfrm>
            <a:off x="923544" y="1984248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Правила работы, проверки, границы изменений.</a:t>
            </a:r>
            <a:endParaRPr lang="ru-RU" sz="1200" dirty="0"/>
          </a:p>
        </p:txBody>
      </p:sp>
      <p:sp>
        <p:nvSpPr>
          <p:cNvPr id="58" name="Shape 58"/>
          <p:cNvSpPr/>
          <p:nvPr/>
        </p:nvSpPr>
        <p:spPr>
          <a:xfrm>
            <a:off x="713232" y="2880360"/>
            <a:ext cx="2971800" cy="1170432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59" name="Shape 59"/>
          <p:cNvSpPr/>
          <p:nvPr/>
        </p:nvSpPr>
        <p:spPr>
          <a:xfrm>
            <a:off x="713232" y="2880360"/>
            <a:ext cx="64008" cy="1170432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923544" y="308152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memory-bank</a:t>
            </a:r>
            <a:endParaRPr lang="ru-RU" sz="1700" dirty="0"/>
          </a:p>
        </p:txBody>
      </p:sp>
      <p:sp>
        <p:nvSpPr>
          <p:cNvPr id="61" name="Text 61"/>
          <p:cNvSpPr txBox="1"/>
          <p:nvPr/>
        </p:nvSpPr>
        <p:spPr>
          <a:xfrm>
            <a:off x="923544" y="3538728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История решений, прогресс, активный контекст.</a:t>
            </a:r>
            <a:endParaRPr lang="ru-RU" sz="1200" dirty="0"/>
          </a:p>
        </p:txBody>
      </p:sp>
      <p:sp>
        <p:nvSpPr>
          <p:cNvPr id="62" name="Shape 62"/>
          <p:cNvSpPr/>
          <p:nvPr/>
        </p:nvSpPr>
        <p:spPr>
          <a:xfrm>
            <a:off x="8458200" y="1325880"/>
            <a:ext cx="2971800" cy="1170432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8458200" y="1325880"/>
            <a:ext cx="64008" cy="1170432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8668512" y="152704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glossary</a:t>
            </a:r>
            <a:endParaRPr lang="ru-RU" sz="1700" dirty="0"/>
          </a:p>
        </p:txBody>
      </p:sp>
      <p:sp>
        <p:nvSpPr>
          <p:cNvPr id="65" name="Text 65"/>
          <p:cNvSpPr txBox="1"/>
          <p:nvPr/>
        </p:nvSpPr>
        <p:spPr>
          <a:xfrm>
            <a:off x="8668512" y="1984248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Доменный язык: пользователь ≠ игрок.</a:t>
            </a:r>
            <a:endParaRPr lang="ru-RU" sz="1200" dirty="0"/>
          </a:p>
        </p:txBody>
      </p:sp>
      <p:sp>
        <p:nvSpPr>
          <p:cNvPr id="66" name="Shape 66"/>
          <p:cNvSpPr/>
          <p:nvPr/>
        </p:nvSpPr>
        <p:spPr>
          <a:xfrm>
            <a:off x="8458200" y="2880360"/>
            <a:ext cx="2971800" cy="1170432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67" name="Shape 67"/>
          <p:cNvSpPr/>
          <p:nvPr/>
        </p:nvSpPr>
        <p:spPr>
          <a:xfrm>
            <a:off x="8458200" y="2880360"/>
            <a:ext cx="64008" cy="1170432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8668512" y="308152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skills</a:t>
            </a:r>
            <a:endParaRPr lang="ru-RU" sz="1700" dirty="0"/>
          </a:p>
        </p:txBody>
      </p:sp>
      <p:sp>
        <p:nvSpPr>
          <p:cNvPr id="69" name="Text 69"/>
          <p:cNvSpPr txBox="1"/>
          <p:nvPr/>
        </p:nvSpPr>
        <p:spPr>
          <a:xfrm>
            <a:off x="8668512" y="3538728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Feature discovery, local testing, prod DB readonly.</a:t>
            </a:r>
            <a:endParaRPr lang="ru-RU" sz="1200" dirty="0"/>
          </a:p>
        </p:txBody>
      </p:sp>
      <p:cxnSp>
        <p:nvCxnSpPr>
          <p:cNvPr id="70" name="Line 70"/>
          <p:cNvCxnSpPr/>
          <p:nvPr/>
        </p:nvCxnSpPr>
        <p:spPr>
          <a:xfrm>
            <a:off x="3703320" y="1901952"/>
            <a:ext cx="548640" cy="704088"/>
          </a:xfrm>
          <a:prstGeom prst="line">
            <a:avLst/>
          </a:prstGeom>
          <a:ln w="25400">
            <a:solidFill>
              <a:srgbClr val="46E8A8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3703320" y="2743200"/>
            <a:ext cx="548640" cy="713232"/>
          </a:xfrm>
          <a:prstGeom prst="line">
            <a:avLst/>
          </a:prstGeom>
          <a:ln w="25400">
            <a:solidFill>
              <a:srgbClr val="7BCBFF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7818120" y="1901952"/>
            <a:ext cx="640080" cy="704088"/>
          </a:xfrm>
          <a:prstGeom prst="line">
            <a:avLst/>
          </a:prstGeom>
          <a:ln w="25400">
            <a:solidFill>
              <a:srgbClr val="F7D36B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7818120" y="2743200"/>
            <a:ext cx="640080" cy="713232"/>
          </a:xfrm>
          <a:prstGeom prst="line">
            <a:avLst/>
          </a:prstGeom>
          <a:ln w="25400">
            <a:solidFill>
              <a:srgbClr val="46E8A8"/>
            </a:solidFill>
          </a:ln>
        </p:spPr>
      </p:cxnSp>
      <p:sp>
        <p:nvSpPr>
          <p:cNvPr id="74" name="Text 74"/>
          <p:cNvSpPr txBox="1"/>
          <p:nvPr/>
        </p:nvSpPr>
        <p:spPr>
          <a:xfrm>
            <a:off x="1143000" y="5074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200" dirty="0" b="1">
                <a:solidFill>
                  <a:srgbClr val="FFFFFF"/>
                </a:solidFill>
                <a:latin typeface="Aptos"/>
                <a:cs typeface="Aptos"/>
              </a:rPr>
              <a:t>AI-native кодовая база — это кодовая база, которую можно быстро понять без устной передачи контекста.</a:t>
            </a:r>
            <a:endParaRPr lang="ru-RU" sz="2200" dirty="0"/>
          </a:p>
        </p:txBody>
      </p:sp>
      <p:sp>
        <p:nvSpPr>
          <p:cNvPr id="75" name="Text 75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5/9</a:t>
            </a:r>
            <a:endParaRPr lang="ru-RU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566928" y="32004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000" dirty="0" b="1">
                <a:solidFill>
                  <a:srgbClr val="F7FAFC"/>
                </a:solidFill>
                <a:latin typeface="Aptos"/>
                <a:cs typeface="Aptos"/>
              </a:rPr>
              <a:t>Процесс: разработка смещается ближе к продукту</a:t>
            </a:r>
            <a:endParaRPr lang="ru-RU" sz="3000" dirty="0"/>
          </a:p>
        </p:txBody>
      </p:sp>
      <p:sp>
        <p:nvSpPr>
          <p:cNvPr id="78" name="Text 78"/>
          <p:cNvSpPr txBox="1"/>
          <p:nvPr/>
        </p:nvSpPr>
        <p:spPr>
          <a:xfrm>
            <a:off x="594360" y="868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9DB0C3"/>
                </a:solidFill>
                <a:latin typeface="Aptos"/>
                <a:cs typeface="Aptos"/>
              </a:rPr>
              <a:t>Больше времени уходит на формулировку фичи, инвариантов и критериев готовности</a:t>
            </a:r>
            <a:endParaRPr lang="ru-RU" sz="1200" dirty="0"/>
          </a:p>
        </p:txBody>
      </p:sp>
      <p:sp>
        <p:nvSpPr>
          <p:cNvPr id="79" name="Shape 79"/>
          <p:cNvSpPr/>
          <p:nvPr/>
        </p:nvSpPr>
        <p:spPr>
          <a:xfrm>
            <a:off x="658368" y="2148840"/>
            <a:ext cx="1627632" cy="685800"/>
          </a:xfrm>
          <a:prstGeom prst="round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Text 80"/>
          <p:cNvSpPr txBox="1"/>
          <p:nvPr/>
        </p:nvSpPr>
        <p:spPr>
          <a:xfrm>
            <a:off x="786384" y="234086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101820"/>
                </a:solidFill>
                <a:latin typeface="Aptos"/>
                <a:cs typeface="Aptos"/>
              </a:rPr>
              <a:t>Discovery</a:t>
            </a:r>
            <a:endParaRPr lang="ru-RU" sz="1500" dirty="0"/>
          </a:p>
        </p:txBody>
      </p:sp>
      <p:cxnSp>
        <p:nvCxnSpPr>
          <p:cNvPr id="81" name="Line 81"/>
          <p:cNvCxnSpPr/>
          <p:nvPr/>
        </p:nvCxnSpPr>
        <p:spPr>
          <a:xfrm>
            <a:off x="2286000" y="2487168"/>
            <a:ext cx="685800" cy="9144"/>
          </a:xfrm>
          <a:prstGeom prst="line">
            <a:avLst/>
          </a:prstGeom>
          <a:ln w="25400">
            <a:solidFill>
              <a:srgbClr val="46E8A8"/>
            </a:solidFill>
          </a:ln>
        </p:spPr>
      </p:cxnSp>
      <p:sp>
        <p:nvSpPr>
          <p:cNvPr id="82" name="Shape 82"/>
          <p:cNvSpPr/>
          <p:nvPr/>
        </p:nvSpPr>
        <p:spPr>
          <a:xfrm>
            <a:off x="2971800" y="2148840"/>
            <a:ext cx="1627632" cy="685800"/>
          </a:xfrm>
          <a:prstGeom prst="round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ext 83"/>
          <p:cNvSpPr txBox="1"/>
          <p:nvPr/>
        </p:nvSpPr>
        <p:spPr>
          <a:xfrm>
            <a:off x="3099816" y="234086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101820"/>
                </a:solidFill>
                <a:latin typeface="Aptos"/>
                <a:cs typeface="Aptos"/>
              </a:rPr>
              <a:t>Spec</a:t>
            </a:r>
            <a:endParaRPr lang="ru-RU" sz="1500" dirty="0"/>
          </a:p>
        </p:txBody>
      </p:sp>
      <p:cxnSp>
        <p:nvCxnSpPr>
          <p:cNvPr id="84" name="Line 84"/>
          <p:cNvCxnSpPr/>
          <p:nvPr/>
        </p:nvCxnSpPr>
        <p:spPr>
          <a:xfrm>
            <a:off x="4599432" y="2487168"/>
            <a:ext cx="685800" cy="9144"/>
          </a:xfrm>
          <a:prstGeom prst="line">
            <a:avLst/>
          </a:prstGeom>
          <a:ln w="25400">
            <a:solidFill>
              <a:srgbClr val="7BCBFF"/>
            </a:solidFill>
          </a:ln>
        </p:spPr>
      </p:cxnSp>
      <p:sp>
        <p:nvSpPr>
          <p:cNvPr id="85" name="Shape 85"/>
          <p:cNvSpPr/>
          <p:nvPr/>
        </p:nvSpPr>
        <p:spPr>
          <a:xfrm>
            <a:off x="5285232" y="2148840"/>
            <a:ext cx="1627632" cy="685800"/>
          </a:xfrm>
          <a:prstGeom prst="round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ext 86"/>
          <p:cNvSpPr txBox="1"/>
          <p:nvPr/>
        </p:nvSpPr>
        <p:spPr>
          <a:xfrm>
            <a:off x="5422392" y="2340864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101820"/>
                </a:solidFill>
                <a:latin typeface="Aptos"/>
                <a:cs typeface="Aptos"/>
              </a:rPr>
              <a:t>Plan</a:t>
            </a:r>
            <a:endParaRPr lang="ru-RU" sz="1500" dirty="0"/>
          </a:p>
        </p:txBody>
      </p:sp>
      <p:cxnSp>
        <p:nvCxnSpPr>
          <p:cNvPr id="87" name="Line 87"/>
          <p:cNvCxnSpPr/>
          <p:nvPr/>
        </p:nvCxnSpPr>
        <p:spPr>
          <a:xfrm>
            <a:off x="6912864" y="2487168"/>
            <a:ext cx="685800" cy="9144"/>
          </a:xfrm>
          <a:prstGeom prst="line">
            <a:avLst/>
          </a:prstGeom>
          <a:ln w="25400">
            <a:solidFill>
              <a:srgbClr val="F7D36B"/>
            </a:solidFill>
          </a:ln>
        </p:spPr>
      </p:cxnSp>
      <p:sp>
        <p:nvSpPr>
          <p:cNvPr id="88" name="Shape 88"/>
          <p:cNvSpPr/>
          <p:nvPr/>
        </p:nvSpPr>
        <p:spPr>
          <a:xfrm>
            <a:off x="7598664" y="2148840"/>
            <a:ext cx="1627632" cy="685800"/>
          </a:xfrm>
          <a:prstGeom prst="round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ext 89"/>
          <p:cNvSpPr txBox="1"/>
          <p:nvPr/>
        </p:nvSpPr>
        <p:spPr>
          <a:xfrm>
            <a:off x="7763256" y="2340864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101820"/>
                </a:solidFill>
                <a:latin typeface="Aptos"/>
                <a:cs typeface="Aptos"/>
              </a:rPr>
              <a:t>Code</a:t>
            </a:r>
            <a:endParaRPr lang="ru-RU" sz="1500" dirty="0"/>
          </a:p>
        </p:txBody>
      </p:sp>
      <p:cxnSp>
        <p:nvCxnSpPr>
          <p:cNvPr id="90" name="Line 90"/>
          <p:cNvCxnSpPr/>
          <p:nvPr/>
        </p:nvCxnSpPr>
        <p:spPr>
          <a:xfrm>
            <a:off x="9226296" y="2487168"/>
            <a:ext cx="685800" cy="9144"/>
          </a:xfrm>
          <a:prstGeom prst="line">
            <a:avLst/>
          </a:prstGeom>
          <a:ln w="25400">
            <a:solidFill>
              <a:srgbClr val="46E8A8"/>
            </a:solidFill>
          </a:ln>
        </p:spPr>
      </p:cxnSp>
      <p:sp>
        <p:nvSpPr>
          <p:cNvPr id="91" name="Shape 91"/>
          <p:cNvSpPr/>
          <p:nvPr/>
        </p:nvSpPr>
        <p:spPr>
          <a:xfrm>
            <a:off x="9912096" y="2148840"/>
            <a:ext cx="1627632" cy="685800"/>
          </a:xfrm>
          <a:prstGeom prst="round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ext 92"/>
          <p:cNvSpPr txBox="1"/>
          <p:nvPr/>
        </p:nvSpPr>
        <p:spPr>
          <a:xfrm>
            <a:off x="10049256" y="2340864"/>
            <a:ext cx="1353312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 b="1">
                <a:solidFill>
                  <a:srgbClr val="101820"/>
                </a:solidFill>
                <a:latin typeface="Aptos"/>
                <a:cs typeface="Aptos"/>
              </a:rPr>
              <a:t>Review</a:t>
            </a:r>
            <a:endParaRPr lang="ru-RU" sz="1500" dirty="0"/>
          </a:p>
        </p:txBody>
      </p:sp>
      <p:sp>
        <p:nvSpPr>
          <p:cNvPr id="93" name="Text 93"/>
          <p:cNvSpPr txBox="1"/>
          <p:nvPr/>
        </p:nvSpPr>
        <p:spPr>
          <a:xfrm>
            <a:off x="1005840" y="3657600"/>
            <a:ext cx="9692640" cy="1508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Сначала: зачем фича, какие риски, что нельзя сломать.</a:t>
            </a:r>
            <a:endParaRPr lang="ru-RU" sz="1900" dirty="0"/>
          </a:p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Потом: подробный план и синхронизация контрактов.</a:t>
            </a:r>
            <a:endParaRPr lang="ru-RU" sz="1900" dirty="0"/>
          </a:p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Затем: код как механическое продолжение принятого решения.</a:t>
            </a:r>
            <a:endParaRPr lang="ru-RU" sz="1900" dirty="0"/>
          </a:p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В конце: тесты, сборки, ревью и запись результата в память проекта.</a:t>
            </a:r>
            <a:endParaRPr lang="ru-RU" sz="1900" dirty="0"/>
          </a:p>
        </p:txBody>
      </p:sp>
      <p:sp>
        <p:nvSpPr>
          <p:cNvPr id="94" name="Text 94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6/9</a:t>
            </a:r>
            <a:endParaRPr lang="ru-RU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96" name="Text 96"/>
          <p:cNvSpPr txBox="1"/>
          <p:nvPr/>
        </p:nvSpPr>
        <p:spPr>
          <a:xfrm>
            <a:off x="566928" y="32004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000" dirty="0" b="1">
                <a:solidFill>
                  <a:srgbClr val="F7FAFC"/>
                </a:solidFill>
                <a:latin typeface="Aptos"/>
                <a:cs typeface="Aptos"/>
              </a:rPr>
              <a:t>Mind-map развития проекта</a:t>
            </a:r>
            <a:endParaRPr lang="ru-RU" sz="3000" dirty="0"/>
          </a:p>
        </p:txBody>
      </p:sp>
      <p:sp>
        <p:nvSpPr>
          <p:cNvPr id="97" name="Text 97"/>
          <p:cNvSpPr txBox="1"/>
          <p:nvPr/>
        </p:nvSpPr>
        <p:spPr>
          <a:xfrm>
            <a:off x="594360" y="868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9DB0C3"/>
                </a:solidFill>
                <a:latin typeface="Aptos"/>
                <a:cs typeface="Aptos"/>
              </a:rPr>
              <a:t>По дизайн-докам и реальным веткам продукта</a:t>
            </a:r>
            <a:endParaRPr lang="ru-RU" sz="1200" dirty="0"/>
          </a:p>
        </p:txBody>
      </p:sp>
      <p:sp>
        <p:nvSpPr>
          <p:cNvPr id="98" name="Shape 98"/>
          <p:cNvSpPr/>
          <p:nvPr/>
        </p:nvSpPr>
        <p:spPr>
          <a:xfrm>
            <a:off x="713232" y="1325880"/>
            <a:ext cx="5760720" cy="4800600"/>
          </a:xfrm>
          <a:prstGeom prst="roundRect">
            <a:avLst/>
          </a:prstGeom>
          <a:solidFill>
            <a:srgbClr val="0B1218"/>
          </a:solidFill>
          <a:ln w="12700">
            <a:solidFill>
              <a:srgbClr val="2B3C4A"/>
            </a:solidFill>
          </a:ln>
        </p:spPr>
        <p:txBody>
          <a:bodyPr/>
          <a:lstStyle/>
          <a:p/>
        </p:txBody>
      </p:sp>
      <p:sp>
        <p:nvSpPr>
          <p:cNvPr id="99" name="Text 99"/>
          <p:cNvSpPr txBox="1"/>
          <p:nvPr/>
        </p:nvSpPr>
        <p:spPr>
          <a:xfrm>
            <a:off x="859536" y="1463040"/>
            <a:ext cx="5468112" cy="45720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>
            <a:normAutofit/>
          </a:bodyPr>
          <a:lstStyle/>
          <a:p>
            <a:pPr algn="l"/>
            <a:r>
              <a:rPr lang="ru-RU" sz="1200" dirty="0">
                <a:solidFill>
                  <a:srgbClr val="C8F7DC"/>
                </a:solidFill>
                <a:latin typeface="Menlo"/>
                <a:cs typeface="Menlo"/>
              </a:rPr>
              <a:t>mindmap
  root((Polemica Fantasy))
    Core game
      cards
      packs
      scoring
      leagues
    Economy
      fantiki
      contracts
      marketplace
      sanctions
    Engagement
      onboarding
      release notes
      notifications
      achievements
    Operations
      admin workflows
      sync/scoring
      healthchecks
      backups
    AI-native DX
      AGENTS.md
      memory-bank
      feature discovery
      local testing</a:t>
            </a:r>
            <a:endParaRPr lang="ru-RU" sz="1200" dirty="0"/>
          </a:p>
        </p:txBody>
      </p:sp>
      <p:sp>
        <p:nvSpPr>
          <p:cNvPr id="100" name="Text 100"/>
          <p:cNvSpPr txBox="1"/>
          <p:nvPr/>
        </p:nvSpPr>
        <p:spPr>
          <a:xfrm>
            <a:off x="6812280" y="1828800"/>
            <a:ext cx="4251960" cy="2468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Дизайн-доки стали не “документацией после”, а способом думать до кода.</a:t>
            </a:r>
            <a:endParaRPr lang="ru-RU" sz="1900" dirty="0"/>
          </a:p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AI лучше работает, когда видит карту продукта, а не только текущий diff.</a:t>
            </a:r>
            <a:endParaRPr lang="ru-RU" sz="1900" dirty="0"/>
          </a:p>
          <a:p>
            <a:pPr algn="l"/>
            <a:r>
              <a:rPr lang="ru-RU" sz="1900" dirty="0">
                <a:solidFill>
                  <a:srgbClr val="E8EEF5"/>
                </a:solidFill>
                <a:latin typeface="Aptos"/>
                <a:cs typeface="Aptos"/>
              </a:rPr>
              <a:t>• Mind-map помогает выбирать следующий vertical slice без потери целостности.</a:t>
            </a:r>
            <a:endParaRPr lang="ru-RU" sz="1900" dirty="0"/>
          </a:p>
        </p:txBody>
      </p:sp>
      <p:sp>
        <p:nvSpPr>
          <p:cNvPr id="101" name="Text 101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7/9</a:t>
            </a:r>
            <a:endParaRPr lang="ru-RU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03" name="Text 103"/>
          <p:cNvSpPr txBox="1"/>
          <p:nvPr/>
        </p:nvSpPr>
        <p:spPr>
          <a:xfrm>
            <a:off x="566928" y="32004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000" dirty="0" b="1">
                <a:solidFill>
                  <a:srgbClr val="F7FAFC"/>
                </a:solidFill>
                <a:latin typeface="Aptos"/>
                <a:cs typeface="Aptos"/>
              </a:rPr>
              <a:t>Инсайты, которые уже видны</a:t>
            </a:r>
            <a:endParaRPr lang="ru-RU" sz="3000" dirty="0"/>
          </a:p>
        </p:txBody>
      </p:sp>
      <p:sp>
        <p:nvSpPr>
          <p:cNvPr id="104" name="Text 104"/>
          <p:cNvSpPr txBox="1"/>
          <p:nvPr/>
        </p:nvSpPr>
        <p:spPr>
          <a:xfrm>
            <a:off x="594360" y="868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9DB0C3"/>
                </a:solidFill>
                <a:latin typeface="Aptos"/>
                <a:cs typeface="Aptos"/>
              </a:rPr>
              <a:t>Не про конкретный стек, а про способ работы</a:t>
            </a:r>
            <a:endParaRPr lang="ru-RU" sz="1200" dirty="0"/>
          </a:p>
        </p:txBody>
      </p:sp>
      <p:sp>
        <p:nvSpPr>
          <p:cNvPr id="105" name="Shape 105"/>
          <p:cNvSpPr/>
          <p:nvPr/>
        </p:nvSpPr>
        <p:spPr>
          <a:xfrm>
            <a:off x="749808" y="1508760"/>
            <a:ext cx="3246120" cy="301752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06" name="Shape 106"/>
          <p:cNvSpPr/>
          <p:nvPr/>
        </p:nvSpPr>
        <p:spPr>
          <a:xfrm>
            <a:off x="749808" y="1508760"/>
            <a:ext cx="64008" cy="301752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Text 107"/>
          <p:cNvSpPr txBox="1"/>
          <p:nvPr/>
        </p:nvSpPr>
        <p:spPr>
          <a:xfrm>
            <a:off x="960120" y="1709928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Контекст становится активом</a:t>
            </a:r>
            <a:endParaRPr lang="ru-RU" sz="1700" dirty="0"/>
          </a:p>
        </p:txBody>
      </p:sp>
      <p:sp>
        <p:nvSpPr>
          <p:cNvPr id="108" name="Text 108"/>
          <p:cNvSpPr txBox="1"/>
          <p:nvPr/>
        </p:nvSpPr>
        <p:spPr>
          <a:xfrm>
            <a:off x="960120" y="2167128"/>
            <a:ext cx="2880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memory-bank и AGENTS.md дают эффект только если они обновляются вместе с продуктом.</a:t>
            </a:r>
            <a:endParaRPr lang="ru-RU" sz="1200" dirty="0"/>
          </a:p>
        </p:txBody>
      </p:sp>
      <p:sp>
        <p:nvSpPr>
          <p:cNvPr id="109" name="Shape 109"/>
          <p:cNvSpPr/>
          <p:nvPr/>
        </p:nvSpPr>
        <p:spPr>
          <a:xfrm>
            <a:off x="4480560" y="1508760"/>
            <a:ext cx="3246120" cy="301752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10" name="Shape 110"/>
          <p:cNvSpPr/>
          <p:nvPr/>
        </p:nvSpPr>
        <p:spPr>
          <a:xfrm>
            <a:off x="4480560" y="1508760"/>
            <a:ext cx="64008" cy="3017520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Text 111"/>
          <p:cNvSpPr txBox="1"/>
          <p:nvPr/>
        </p:nvSpPr>
        <p:spPr>
          <a:xfrm>
            <a:off x="4690872" y="1709928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Роль инженера меняется</a:t>
            </a:r>
            <a:endParaRPr lang="ru-RU" sz="1700" dirty="0"/>
          </a:p>
        </p:txBody>
      </p:sp>
      <p:sp>
        <p:nvSpPr>
          <p:cNvPr id="112" name="Text 112"/>
          <p:cNvSpPr txBox="1"/>
          <p:nvPr/>
        </p:nvSpPr>
        <p:spPr>
          <a:xfrm>
            <a:off x="4690872" y="2167128"/>
            <a:ext cx="2880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Меньше ручного набора кода, больше продуктовых решений, декомпозиции, инвариантов и проверки результата.</a:t>
            </a:r>
            <a:endParaRPr lang="ru-RU" sz="1200" dirty="0"/>
          </a:p>
        </p:txBody>
      </p:sp>
      <p:sp>
        <p:nvSpPr>
          <p:cNvPr id="113" name="Shape 113"/>
          <p:cNvSpPr/>
          <p:nvPr/>
        </p:nvSpPr>
        <p:spPr>
          <a:xfrm>
            <a:off x="8211312" y="1508760"/>
            <a:ext cx="3246120" cy="301752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14" name="Shape 114"/>
          <p:cNvSpPr/>
          <p:nvPr/>
        </p:nvSpPr>
        <p:spPr>
          <a:xfrm>
            <a:off x="8211312" y="1508760"/>
            <a:ext cx="64008" cy="301752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ext 115"/>
          <p:cNvSpPr txBox="1"/>
          <p:nvPr/>
        </p:nvSpPr>
        <p:spPr>
          <a:xfrm>
            <a:off x="8421624" y="1709928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AI любит vertical slices</a:t>
            </a:r>
            <a:endParaRPr lang="ru-RU" sz="1700" dirty="0"/>
          </a:p>
        </p:txBody>
      </p:sp>
      <p:sp>
        <p:nvSpPr>
          <p:cNvPr id="116" name="Text 116"/>
          <p:cNvSpPr txBox="1"/>
          <p:nvPr/>
        </p:nvSpPr>
        <p:spPr>
          <a:xfrm>
            <a:off x="8421624" y="2167128"/>
            <a:ext cx="2880360" cy="2240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Фича должна проходить через API, БД, UI, тесты и память. Иначе проект начинает расходиться.</a:t>
            </a:r>
            <a:endParaRPr lang="ru-RU" sz="1200" dirty="0"/>
          </a:p>
        </p:txBody>
      </p:sp>
      <p:sp>
        <p:nvSpPr>
          <p:cNvPr id="117" name="Text 117"/>
          <p:cNvSpPr txBox="1"/>
          <p:nvPr/>
        </p:nvSpPr>
        <p:spPr>
          <a:xfrm>
            <a:off x="1051560" y="525780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200" dirty="0" b="1">
                <a:solidFill>
                  <a:srgbClr val="46E8A8"/>
                </a:solidFill>
                <a:latin typeface="Aptos"/>
                <a:cs typeface="Aptos"/>
              </a:rPr>
              <a:t>Практический урок: AI ускоряет не хаос, а уже оформленный процесс.</a:t>
            </a:r>
            <a:endParaRPr lang="ru-RU" sz="2200" dirty="0"/>
          </a:p>
        </p:txBody>
      </p:sp>
      <p:sp>
        <p:nvSpPr>
          <p:cNvPr id="118" name="Text 118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8/9</a:t>
            </a:r>
            <a:endParaRPr lang="ru-RU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 w="12700">
            <a:solidFill>
              <a:srgbClr val="0C1117"/>
            </a:solidFill>
          </a:ln>
        </p:spPr>
        <p:txBody>
          <a:bodyPr/>
          <a:lstStyle/>
          <a:p/>
        </p:txBody>
      </p:sp>
      <p:sp>
        <p:nvSpPr>
          <p:cNvPr id="120" name="Text 120"/>
          <p:cNvSpPr txBox="1"/>
          <p:nvPr/>
        </p:nvSpPr>
        <p:spPr>
          <a:xfrm>
            <a:off x="777240" y="6858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3400" dirty="0" b="1">
                <a:solidFill>
                  <a:srgbClr val="FFFFFF"/>
                </a:solidFill>
                <a:latin typeface="Aptos"/>
                <a:cs typeface="Aptos"/>
              </a:rPr>
              <a:t>3. Что вынести в BigTech</a:t>
            </a:r>
            <a:endParaRPr lang="ru-RU" sz="3400" dirty="0"/>
          </a:p>
        </p:txBody>
      </p:sp>
      <p:sp>
        <p:nvSpPr>
          <p:cNvPr id="121" name="Text 121"/>
          <p:cNvSpPr txBox="1"/>
          <p:nvPr/>
        </p:nvSpPr>
        <p:spPr>
          <a:xfrm>
            <a:off x="822960" y="1417320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400" dirty="0">
                <a:solidFill>
                  <a:srgbClr val="9DB0C3"/>
                </a:solidFill>
                <a:latin typeface="Aptos"/>
                <a:cs typeface="Aptos"/>
              </a:rPr>
              <a:t>Этот раздел оставлен как тезисный каркас для твоих примеров</a:t>
            </a:r>
            <a:endParaRPr lang="ru-RU" sz="1400" dirty="0"/>
          </a:p>
        </p:txBody>
      </p:sp>
      <p:sp>
        <p:nvSpPr>
          <p:cNvPr id="122" name="Shape 122"/>
          <p:cNvSpPr/>
          <p:nvPr/>
        </p:nvSpPr>
        <p:spPr>
          <a:xfrm>
            <a:off x="914400" y="2057400"/>
            <a:ext cx="2971800" cy="205740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123" name="Text 123"/>
          <p:cNvSpPr txBox="1"/>
          <p:nvPr/>
        </p:nvSpPr>
        <p:spPr>
          <a:xfrm>
            <a:off x="1207008" y="239572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FFFFFF"/>
                </a:solidFill>
                <a:latin typeface="Aptos"/>
                <a:cs typeface="Aptos"/>
              </a:rPr>
              <a:t>Организационный слой</a:t>
            </a:r>
            <a:endParaRPr lang="ru-RU" sz="1800" dirty="0"/>
          </a:p>
        </p:txBody>
      </p:sp>
      <p:sp>
        <p:nvSpPr>
          <p:cNvPr id="124" name="Text 124"/>
          <p:cNvSpPr txBox="1"/>
          <p:nvPr/>
        </p:nvSpPr>
        <p:spPr>
          <a:xfrm>
            <a:off x="1143000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400" dirty="0">
                <a:solidFill>
                  <a:srgbClr val="B7C4D2"/>
                </a:solidFill>
                <a:latin typeface="Aptos"/>
                <a:cs typeface="Aptos"/>
              </a:rPr>
              <a:t>Как оформить память, ownership и правила работы агента в большой команде.</a:t>
            </a:r>
            <a:endParaRPr lang="ru-RU" sz="1400" dirty="0"/>
          </a:p>
        </p:txBody>
      </p:sp>
      <p:sp>
        <p:nvSpPr>
          <p:cNvPr id="125" name="Shape 125"/>
          <p:cNvSpPr/>
          <p:nvPr/>
        </p:nvSpPr>
        <p:spPr>
          <a:xfrm>
            <a:off x="4617720" y="2057400"/>
            <a:ext cx="2971800" cy="205740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F7D36B"/>
            </a:solidFill>
          </a:ln>
        </p:spPr>
        <p:txBody>
          <a:bodyPr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4901184" y="239572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FFFFFF"/>
                </a:solidFill>
                <a:latin typeface="Aptos"/>
                <a:cs typeface="Aptos"/>
              </a:rPr>
              <a:t>Продуктовый слой</a:t>
            </a:r>
            <a:endParaRPr lang="ru-RU" sz="1800" dirty="0"/>
          </a:p>
        </p:txBody>
      </p:sp>
      <p:sp>
        <p:nvSpPr>
          <p:cNvPr id="127" name="Text 127"/>
          <p:cNvSpPr txBox="1"/>
          <p:nvPr/>
        </p:nvSpPr>
        <p:spPr>
          <a:xfrm>
            <a:off x="4846320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400" dirty="0">
                <a:solidFill>
                  <a:srgbClr val="B7C4D2"/>
                </a:solidFill>
                <a:latin typeface="Aptos"/>
                <a:cs typeface="Aptos"/>
              </a:rPr>
              <a:t>Как сдвинуть AI-разработку к discovery, RFC, decision records и метрикам.</a:t>
            </a:r>
            <a:endParaRPr lang="ru-RU" sz="1400" dirty="0"/>
          </a:p>
        </p:txBody>
      </p:sp>
      <p:sp>
        <p:nvSpPr>
          <p:cNvPr id="128" name="Shape 128"/>
          <p:cNvSpPr/>
          <p:nvPr/>
        </p:nvSpPr>
        <p:spPr>
          <a:xfrm>
            <a:off x="8321040" y="2057400"/>
            <a:ext cx="2971800" cy="2057400"/>
          </a:xfrm>
          <a:prstGeom prst="roundRect">
            <a:avLst/>
          </a:prstGeom>
          <a:solidFill>
            <a:srgbClr val="17232E"/>
          </a:solidFill>
          <a:ln w="12700">
            <a:solidFill>
              <a:srgbClr val="7BCBFF"/>
            </a:solidFill>
          </a:ln>
        </p:spPr>
        <p:txBody>
          <a:bodyPr/>
          <a:lstStyle/>
          <a:p/>
        </p:txBody>
      </p:sp>
      <p:sp>
        <p:nvSpPr>
          <p:cNvPr id="129" name="Text 129"/>
          <p:cNvSpPr txBox="1"/>
          <p:nvPr/>
        </p:nvSpPr>
        <p:spPr>
          <a:xfrm>
            <a:off x="8613648" y="239572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FFFFFF"/>
                </a:solidFill>
                <a:latin typeface="Aptos"/>
                <a:cs typeface="Aptos"/>
              </a:rPr>
              <a:t>Инженерный слой</a:t>
            </a:r>
            <a:endParaRPr lang="ru-RU" sz="1800" dirty="0"/>
          </a:p>
        </p:txBody>
      </p:sp>
      <p:sp>
        <p:nvSpPr>
          <p:cNvPr id="130" name="Text 130"/>
          <p:cNvSpPr txBox="1"/>
          <p:nvPr/>
        </p:nvSpPr>
        <p:spPr>
          <a:xfrm>
            <a:off x="8540496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400" dirty="0">
                <a:solidFill>
                  <a:srgbClr val="B7C4D2"/>
                </a:solidFill>
                <a:latin typeface="Aptos"/>
                <a:cs typeface="Aptos"/>
              </a:rPr>
              <a:t>Как делать быстрые проверки, контрактные изменения и безопасный handoff.</a:t>
            </a:r>
            <a:endParaRPr lang="ru-RU" sz="1400" dirty="0"/>
          </a:p>
        </p:txBody>
      </p:sp>
      <p:sp>
        <p:nvSpPr>
          <p:cNvPr id="131" name="Text 131"/>
          <p:cNvSpPr txBox="1"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400" dirty="0" b="1">
                <a:solidFill>
                  <a:srgbClr val="46E8A8"/>
                </a:solidFill>
                <a:latin typeface="Aptos"/>
                <a:cs typeface="Aptos"/>
              </a:rPr>
              <a:t>Placeholder: добавить 3-5 тезисов из личного опыта BigTech</a:t>
            </a:r>
            <a:endParaRPr lang="ru-RU" sz="2400" dirty="0"/>
          </a:p>
        </p:txBody>
      </p:sp>
      <p:sp>
        <p:nvSpPr>
          <p:cNvPr id="132" name="Text 132"/>
          <p:cNvSpPr txBox="1"/>
          <p:nvPr/>
        </p:nvSpPr>
        <p:spPr>
          <a:xfrm>
            <a:off x="10287000" y="64465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6F7D8C"/>
                </a:solidFill>
                <a:latin typeface="Aptos"/>
                <a:cs typeface="Aptos"/>
              </a:rPr>
              <a:t>9/9</a:t>
            </a:r>
            <a:endParaRPr lang="ru-RU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emica">
  <a:themeElements>
    <a:clrScheme name="Polemica">
      <a:dk1>
        <a:srgbClr val="101820"/>
      </a:dk1>
      <a:lt1>
        <a:srgbClr val="FFFFFF"/>
      </a:lt1>
      <a:dk2>
        <a:srgbClr val="17232E"/>
      </a:dk2>
      <a:lt2>
        <a:srgbClr val="DDE7F0"/>
      </a:lt2>
      <a:accent1>
        <a:srgbClr val="46E8A8"/>
      </a:accent1>
      <a:accent2>
        <a:srgbClr val="7BCBFF"/>
      </a:accent2>
      <a:accent3>
        <a:srgbClr val="F7D36B"/>
      </a:accent3>
      <a:accent4>
        <a:srgbClr val="C971FF"/>
      </a:accent4>
      <a:accent5>
        <a:srgbClr val="FF7A7A"/>
      </a:accent5>
      <a:accent6>
        <a:srgbClr val="9DB0C3"/>
      </a:accent6>
      <a:hlink>
        <a:srgbClr val="7BCBFF"/>
      </a:hlink>
      <a:folHlink>
        <a:srgbClr val="C971FF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olemic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Polemica Fantasy: AI-native product story v2</dc:title>
  <dc:creator>Codex</dc:creator>
  <cp:lastModifiedBy>Codex</cp:lastModifiedBy>
  <dcterms:created xsi:type="dcterms:W3CDTF">2026-06-03T00:00:00Z</dcterms:created>
  <dcterms:modified xsi:type="dcterms:W3CDTF">2026-06-03T00:00:00Z</dcterms:modified>
</cp:coreProperties>
</file>